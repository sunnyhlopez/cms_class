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18"/>
  </p:notesMasterIdLst>
  <p:sldIdLst>
    <p:sldId id="256" r:id="rId2"/>
    <p:sldId id="257" r:id="rId3"/>
    <p:sldId id="258" r:id="rId4"/>
    <p:sldId id="260" r:id="rId5"/>
    <p:sldId id="262" r:id="rId6"/>
    <p:sldId id="264" r:id="rId7"/>
    <p:sldId id="265" r:id="rId8"/>
    <p:sldId id="266" r:id="rId9"/>
    <p:sldId id="263" r:id="rId10"/>
    <p:sldId id="267" r:id="rId11"/>
    <p:sldId id="268" r:id="rId12"/>
    <p:sldId id="269" r:id="rId13"/>
    <p:sldId id="270" r:id="rId14"/>
    <p:sldId id="271" r:id="rId15"/>
    <p:sldId id="272" r:id="rId16"/>
    <p:sldId id="27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235" autoAdjust="0"/>
  </p:normalViewPr>
  <p:slideViewPr>
    <p:cSldViewPr snapToGrid="0" showGuides="1">
      <p:cViewPr varScale="1">
        <p:scale>
          <a:sx n="52" d="100"/>
          <a:sy n="52" d="100"/>
        </p:scale>
        <p:origin x="71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44CCA1-0206-4C1D-8FBE-86A23A74177B}" type="datetimeFigureOut">
              <a:rPr lang="en-US" smtClean="0"/>
              <a:t>8/26/2024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DFDB4D-3397-4AA1-8D41-D9AD934B9B18}" type="slidenum">
              <a:rPr lang="en-US" smtClean="0"/>
              <a:t>‹#›</a:t>
            </a:fld>
            <a:endParaRPr lang="en-US"/>
          </a:p>
        </p:txBody>
      </p:sp>
    </p:spTree>
    <p:extLst>
      <p:ext uri="{BB962C8B-B14F-4D97-AF65-F5344CB8AC3E}">
        <p14:creationId xmlns:p14="http://schemas.microsoft.com/office/powerpoint/2010/main" val="1665258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3063643D-8225-4F8C-BFF8-7176355E8E39}" type="datetime1">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cxnSp>
        <p:nvCxnSpPr>
          <p:cNvPr id="13" name="Straight Connector 12"/>
          <p:cNvCxnSpPr/>
          <p:nvPr/>
        </p:nvCxnSpPr>
        <p:spPr>
          <a:xfrm flipV="1">
            <a:off x="838684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0"/>
            <a:ext cx="12192000" cy="4572001"/>
          </a:xfrm>
          <a:prstGeom prst="rect">
            <a:avLst/>
          </a:prstGeom>
          <a:blipFill dpi="0" rotWithShape="1">
            <a:blip r:embed="rId2">
              <a:duotone>
                <a:schemeClr val="accent1">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7496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A810AF-B02B-40F7-B5DD-ABA697D23FD4}" type="datetime1">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2408341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AE84F92-1261-40D3-BECE-5835445D8F52}" type="datetime1">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blipFill dpi="0" rotWithShape="1">
            <a:blip r:embed="rId2">
              <a:duotone>
                <a:schemeClr val="accent3">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6826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4FEE61-7D9C-43E3-A238-39CD016EC32B}" type="datetime1">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2883360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276E5C-37F1-464C-9A14-6B7507BA541B}" type="datetime1">
              <a:rPr lang="en-US" smtClean="0"/>
              <a:t>8/26/2024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3970151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4E766F6-3E6C-4C81-90FD-E9629BB9934D}" type="datetime1">
              <a:rPr lang="en-US" smtClean="0"/>
              <a:t>8/26/2024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1701087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CC8E9D-D5A2-40EF-BC93-DFAED5D9D2E6}" type="datetime1">
              <a:rPr lang="en-US" smtClean="0"/>
              <a:t>8/26/2024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586365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0ADD9D5-CBD3-4DEB-8BEC-2AE65EA3D268}" type="datetime1">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3138034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DBC6E84-C897-4226-918D-928DB6D1B8A4}" type="datetime1">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23CED-E8B2-4C87-9FAC-E88E7AD8180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5018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C87322-9529-4649-8C81-2A65251FCFA6}" type="datetime1">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300489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B2D477-07A8-477B-8D07-61CCC236A38A}" type="datetime1">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169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DA5BEEE-4335-4DF4-AD26-2272FBA491A1}" type="datetime1">
              <a:rPr lang="en-US" smtClean="0"/>
              <a:t>8/26/2024</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AF23CED-E8B2-4C87-9FAC-E88E7AD8180A}" type="slidenum">
              <a:rPr lang="en-US" smtClean="0"/>
              <a:t>‹#›</a:t>
            </a:fld>
            <a:endParaRPr lang="en-US"/>
          </a:p>
        </p:txBody>
      </p:sp>
      <p:cxnSp>
        <p:nvCxnSpPr>
          <p:cNvPr id="8" name="Straight Connector 7"/>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683911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sldNum="0" hd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oracle.com/ph/content-management/what-is-cms/#:~:text=Basically%2C%20a%20CMS%20platform%20takes,web%20browser%20can%20read%20i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oracle.com/ph/content-management/what-is-cms/#:~:text=Basically%2C%20a%20CMS%20platform%20takes,web%20browser%20can%20read%20i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oracle.com/ph/content-management/what-is-cms/#:~:text=Basically%2C%20a%20CMS%20platform%20takes,web%20browser%20can%20read%20i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oracle.com/ph/content-management/what-is-cms/#:~:text=Basically%2C%20a%20CMS%20platform%20takes,web%20browser%20can%20read%20it" TargetMode="Externa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hyperlink" Target="https://www.oracle.com/ph/content-management/what-is-cms/#:~:text=Basically%2C%20a%20CMS%20platform%20takes,web%20browser%20can%20read%20it" TargetMode="Externa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hyperlink" Target="https://www.oracle.com/ph/content-management/what-is-cms/#:~:text=Basically%2C%20a%20CMS%20platform%20takes,web%20browser%20can%20read%20it"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663A5-3690-451A-A791-38751893C286}"/>
              </a:ext>
            </a:extLst>
          </p:cNvPr>
          <p:cNvSpPr>
            <a:spLocks noGrp="1"/>
          </p:cNvSpPr>
          <p:nvPr>
            <p:ph type="ctrTitle"/>
          </p:nvPr>
        </p:nvSpPr>
        <p:spPr/>
        <p:txBody>
          <a:bodyPr/>
          <a:lstStyle/>
          <a:p>
            <a:r>
              <a:rPr lang="en-US" dirty="0"/>
              <a:t>ITP219</a:t>
            </a:r>
          </a:p>
        </p:txBody>
      </p:sp>
      <p:sp>
        <p:nvSpPr>
          <p:cNvPr id="3" name="Subtitle 2">
            <a:extLst>
              <a:ext uri="{FF2B5EF4-FFF2-40B4-BE49-F238E27FC236}">
                <a16:creationId xmlns:a16="http://schemas.microsoft.com/office/drawing/2014/main" id="{1258704A-3D89-4CB1-B536-1B269A9478AD}"/>
              </a:ext>
            </a:extLst>
          </p:cNvPr>
          <p:cNvSpPr>
            <a:spLocks noGrp="1"/>
          </p:cNvSpPr>
          <p:nvPr>
            <p:ph type="subTitle" idx="1"/>
          </p:nvPr>
        </p:nvSpPr>
        <p:spPr/>
        <p:txBody>
          <a:bodyPr/>
          <a:lstStyle/>
          <a:p>
            <a:r>
              <a:rPr lang="en-US" dirty="0"/>
              <a:t>CONTENT MANAGEMENT SYSTEM | WEEK 2</a:t>
            </a:r>
          </a:p>
        </p:txBody>
      </p:sp>
      <p:sp>
        <p:nvSpPr>
          <p:cNvPr id="4" name="Footer Placeholder 3">
            <a:extLst>
              <a:ext uri="{FF2B5EF4-FFF2-40B4-BE49-F238E27FC236}">
                <a16:creationId xmlns:a16="http://schemas.microsoft.com/office/drawing/2014/main" id="{38C4FE9A-307E-4243-915C-91BE0E3227F7}"/>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02510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76399-EF5B-456A-A70D-0C539E786DF5}"/>
              </a:ext>
            </a:extLst>
          </p:cNvPr>
          <p:cNvSpPr>
            <a:spLocks noGrp="1"/>
          </p:cNvSpPr>
          <p:nvPr>
            <p:ph type="title"/>
          </p:nvPr>
        </p:nvSpPr>
        <p:spPr/>
        <p:txBody>
          <a:bodyPr/>
          <a:lstStyle/>
          <a:p>
            <a:r>
              <a:rPr lang="en-US" dirty="0"/>
              <a:t>How does CMS work?</a:t>
            </a:r>
          </a:p>
        </p:txBody>
      </p:sp>
      <p:sp>
        <p:nvSpPr>
          <p:cNvPr id="3" name="Content Placeholder 2">
            <a:extLst>
              <a:ext uri="{FF2B5EF4-FFF2-40B4-BE49-F238E27FC236}">
                <a16:creationId xmlns:a16="http://schemas.microsoft.com/office/drawing/2014/main" id="{DCEAEBA1-7396-4E4C-B8E8-9D18327105C8}"/>
              </a:ext>
            </a:extLst>
          </p:cNvPr>
          <p:cNvSpPr>
            <a:spLocks noGrp="1"/>
          </p:cNvSpPr>
          <p:nvPr>
            <p:ph idx="1"/>
          </p:nvPr>
        </p:nvSpPr>
        <p:spPr/>
        <p:txBody>
          <a:bodyPr>
            <a:normAutofit/>
          </a:bodyPr>
          <a:lstStyle/>
          <a:p>
            <a:pPr marL="0" indent="0" algn="just">
              <a:buNone/>
            </a:pPr>
            <a:r>
              <a:rPr lang="en-US" sz="3600" dirty="0"/>
              <a:t>Basically, a CMS platform takes care of all the technical details around building and managing a website. For example, to post content on the web, such as a blog post, you need to start with an HTML file. HTML allows you to structure your written content so that a web browser can read it.</a:t>
            </a:r>
          </a:p>
          <a:p>
            <a:pPr marL="0" indent="0" algn="just">
              <a:buNone/>
            </a:pPr>
            <a:endParaRPr lang="en-US" dirty="0"/>
          </a:p>
          <a:p>
            <a:pPr marL="0" indent="0" algn="just">
              <a:buNone/>
            </a:pPr>
            <a:endParaRPr lang="en-US" dirty="0"/>
          </a:p>
          <a:p>
            <a:pPr marL="0" indent="0" algn="just">
              <a:buNone/>
            </a:pPr>
            <a:endParaRPr lang="en-US" sz="2000" dirty="0"/>
          </a:p>
        </p:txBody>
      </p:sp>
      <p:sp>
        <p:nvSpPr>
          <p:cNvPr id="4" name="Footer Placeholder 3">
            <a:extLst>
              <a:ext uri="{FF2B5EF4-FFF2-40B4-BE49-F238E27FC236}">
                <a16:creationId xmlns:a16="http://schemas.microsoft.com/office/drawing/2014/main" id="{4C8C2A86-E518-491F-973F-9B3EEBC939F6}"/>
              </a:ext>
            </a:extLst>
          </p:cNvPr>
          <p:cNvSpPr>
            <a:spLocks noGrp="1"/>
          </p:cNvSpPr>
          <p:nvPr>
            <p:ph type="ftr" sz="quarter" idx="11"/>
          </p:nvPr>
        </p:nvSpPr>
        <p:spPr>
          <a:xfrm>
            <a:off x="838200" y="6356351"/>
            <a:ext cx="10515600" cy="324367"/>
          </a:xfrm>
        </p:spPr>
        <p:txBody>
          <a:bodyPr/>
          <a:lstStyle/>
          <a:p>
            <a:pPr algn="l"/>
            <a:r>
              <a:rPr lang="en-US" dirty="0">
                <a:hlinkClick r:id="rId2"/>
              </a:rPr>
              <a:t>https://www.oracle.com/ph/content-management/what-is-cms/#:~:text=Basically%2C%20a%20CMS%20platform%20takes,web%20browser%20can%20read%20it</a:t>
            </a:r>
            <a:r>
              <a:rPr lang="en-US" dirty="0"/>
              <a:t>.</a:t>
            </a:r>
          </a:p>
          <a:p>
            <a:pPr algn="l"/>
            <a:endParaRPr lang="en-US" dirty="0"/>
          </a:p>
        </p:txBody>
      </p:sp>
    </p:spTree>
    <p:extLst>
      <p:ext uri="{BB962C8B-B14F-4D97-AF65-F5344CB8AC3E}">
        <p14:creationId xmlns:p14="http://schemas.microsoft.com/office/powerpoint/2010/main" val="2723381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76399-EF5B-456A-A70D-0C539E786DF5}"/>
              </a:ext>
            </a:extLst>
          </p:cNvPr>
          <p:cNvSpPr>
            <a:spLocks noGrp="1"/>
          </p:cNvSpPr>
          <p:nvPr>
            <p:ph type="title"/>
          </p:nvPr>
        </p:nvSpPr>
        <p:spPr/>
        <p:txBody>
          <a:bodyPr/>
          <a:lstStyle/>
          <a:p>
            <a:r>
              <a:rPr lang="en-US" dirty="0"/>
              <a:t>Types of CMS</a:t>
            </a:r>
          </a:p>
        </p:txBody>
      </p:sp>
      <p:sp>
        <p:nvSpPr>
          <p:cNvPr id="3" name="Content Placeholder 2">
            <a:extLst>
              <a:ext uri="{FF2B5EF4-FFF2-40B4-BE49-F238E27FC236}">
                <a16:creationId xmlns:a16="http://schemas.microsoft.com/office/drawing/2014/main" id="{DCEAEBA1-7396-4E4C-B8E8-9D18327105C8}"/>
              </a:ext>
            </a:extLst>
          </p:cNvPr>
          <p:cNvSpPr>
            <a:spLocks noGrp="1"/>
          </p:cNvSpPr>
          <p:nvPr>
            <p:ph idx="1"/>
          </p:nvPr>
        </p:nvSpPr>
        <p:spPr/>
        <p:txBody>
          <a:bodyPr>
            <a:normAutofit/>
          </a:bodyPr>
          <a:lstStyle/>
          <a:p>
            <a:pPr marL="0" indent="0" algn="just">
              <a:buNone/>
            </a:pPr>
            <a:r>
              <a:rPr lang="en-US" sz="3500" dirty="0"/>
              <a:t>Nearly every CMS is comprised of two parts—the front end and the back end. The front end is the part the user interacts with. It’s how websites are visibly structured and styled. The front end brings HTML, CSS, and JavaScript together to deliver rich, interactive content that’s styled to match your company’s branding.</a:t>
            </a:r>
          </a:p>
          <a:p>
            <a:pPr marL="0" indent="0" algn="just">
              <a:buNone/>
            </a:pPr>
            <a:endParaRPr lang="en-US" sz="3500" dirty="0"/>
          </a:p>
          <a:p>
            <a:pPr marL="0" indent="0" algn="just">
              <a:buNone/>
            </a:pPr>
            <a:endParaRPr lang="en-US" sz="3500" dirty="0"/>
          </a:p>
          <a:p>
            <a:pPr marL="0" indent="0" algn="just">
              <a:buNone/>
            </a:pPr>
            <a:endParaRPr lang="en-US" sz="3500" dirty="0"/>
          </a:p>
        </p:txBody>
      </p:sp>
      <p:sp>
        <p:nvSpPr>
          <p:cNvPr id="4" name="Footer Placeholder 3">
            <a:extLst>
              <a:ext uri="{FF2B5EF4-FFF2-40B4-BE49-F238E27FC236}">
                <a16:creationId xmlns:a16="http://schemas.microsoft.com/office/drawing/2014/main" id="{4C8C2A86-E518-491F-973F-9B3EEBC939F6}"/>
              </a:ext>
            </a:extLst>
          </p:cNvPr>
          <p:cNvSpPr>
            <a:spLocks noGrp="1"/>
          </p:cNvSpPr>
          <p:nvPr>
            <p:ph type="ftr" sz="quarter" idx="11"/>
          </p:nvPr>
        </p:nvSpPr>
        <p:spPr>
          <a:xfrm>
            <a:off x="838200" y="6356351"/>
            <a:ext cx="10515600" cy="324367"/>
          </a:xfrm>
        </p:spPr>
        <p:txBody>
          <a:bodyPr/>
          <a:lstStyle/>
          <a:p>
            <a:pPr algn="l"/>
            <a:r>
              <a:rPr lang="en-US" dirty="0">
                <a:hlinkClick r:id="rId2"/>
              </a:rPr>
              <a:t>https://www.oracle.com/ph/content-management/what-is-cms/#:~:text=Basically%2C%20a%20CMS%20platform%20takes,web%20browser%20can%20read%20it</a:t>
            </a:r>
            <a:r>
              <a:rPr lang="en-US" dirty="0"/>
              <a:t>.</a:t>
            </a:r>
          </a:p>
          <a:p>
            <a:pPr algn="l"/>
            <a:endParaRPr lang="en-US" dirty="0"/>
          </a:p>
        </p:txBody>
      </p:sp>
    </p:spTree>
    <p:extLst>
      <p:ext uri="{BB962C8B-B14F-4D97-AF65-F5344CB8AC3E}">
        <p14:creationId xmlns:p14="http://schemas.microsoft.com/office/powerpoint/2010/main" val="1400273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76399-EF5B-456A-A70D-0C539E786DF5}"/>
              </a:ext>
            </a:extLst>
          </p:cNvPr>
          <p:cNvSpPr>
            <a:spLocks noGrp="1"/>
          </p:cNvSpPr>
          <p:nvPr>
            <p:ph type="title"/>
          </p:nvPr>
        </p:nvSpPr>
        <p:spPr/>
        <p:txBody>
          <a:bodyPr/>
          <a:lstStyle/>
          <a:p>
            <a:r>
              <a:rPr lang="en-US" dirty="0"/>
              <a:t>Types of CMS</a:t>
            </a:r>
          </a:p>
        </p:txBody>
      </p:sp>
      <p:sp>
        <p:nvSpPr>
          <p:cNvPr id="3" name="Content Placeholder 2">
            <a:extLst>
              <a:ext uri="{FF2B5EF4-FFF2-40B4-BE49-F238E27FC236}">
                <a16:creationId xmlns:a16="http://schemas.microsoft.com/office/drawing/2014/main" id="{DCEAEBA1-7396-4E4C-B8E8-9D18327105C8}"/>
              </a:ext>
            </a:extLst>
          </p:cNvPr>
          <p:cNvSpPr>
            <a:spLocks noGrp="1"/>
          </p:cNvSpPr>
          <p:nvPr>
            <p:ph idx="1"/>
          </p:nvPr>
        </p:nvSpPr>
        <p:spPr/>
        <p:txBody>
          <a:bodyPr>
            <a:normAutofit/>
          </a:bodyPr>
          <a:lstStyle/>
          <a:p>
            <a:pPr marL="0" indent="0" algn="just">
              <a:buNone/>
            </a:pPr>
            <a:r>
              <a:rPr lang="en-US" sz="3500" dirty="0"/>
              <a:t>The back end of a CMS is the application that is used to post new content to a website. The process begins by accessing a web interface to easily add, create, and publish content to your CMS’s front end. Rather than knowing HTML, CSS, and JavaScript, you create content in an interface similar to Microsoft Word. The back end then stores this content in the database and publishes it to the front end of the website.</a:t>
            </a:r>
          </a:p>
          <a:p>
            <a:pPr marL="0" indent="0" algn="just">
              <a:buNone/>
            </a:pPr>
            <a:endParaRPr lang="en-US" sz="3500" dirty="0"/>
          </a:p>
          <a:p>
            <a:pPr marL="0" indent="0" algn="just">
              <a:buNone/>
            </a:pPr>
            <a:endParaRPr lang="en-US" sz="3500" dirty="0"/>
          </a:p>
        </p:txBody>
      </p:sp>
      <p:sp>
        <p:nvSpPr>
          <p:cNvPr id="4" name="Footer Placeholder 3">
            <a:extLst>
              <a:ext uri="{FF2B5EF4-FFF2-40B4-BE49-F238E27FC236}">
                <a16:creationId xmlns:a16="http://schemas.microsoft.com/office/drawing/2014/main" id="{4C8C2A86-E518-491F-973F-9B3EEBC939F6}"/>
              </a:ext>
            </a:extLst>
          </p:cNvPr>
          <p:cNvSpPr>
            <a:spLocks noGrp="1"/>
          </p:cNvSpPr>
          <p:nvPr>
            <p:ph type="ftr" sz="quarter" idx="11"/>
          </p:nvPr>
        </p:nvSpPr>
        <p:spPr>
          <a:xfrm>
            <a:off x="838200" y="6356351"/>
            <a:ext cx="10515600" cy="324367"/>
          </a:xfrm>
        </p:spPr>
        <p:txBody>
          <a:bodyPr/>
          <a:lstStyle/>
          <a:p>
            <a:pPr algn="l"/>
            <a:r>
              <a:rPr lang="en-US" dirty="0">
                <a:hlinkClick r:id="rId2"/>
              </a:rPr>
              <a:t>https://www.oracle.com/ph/content-management/what-is-cms/#:~:text=Basically%2C%20a%20CMS%20platform%20takes,web%20browser%20can%20read%20it</a:t>
            </a:r>
            <a:r>
              <a:rPr lang="en-US" dirty="0"/>
              <a:t>.</a:t>
            </a:r>
          </a:p>
          <a:p>
            <a:pPr algn="l"/>
            <a:endParaRPr lang="en-US" dirty="0"/>
          </a:p>
        </p:txBody>
      </p:sp>
    </p:spTree>
    <p:extLst>
      <p:ext uri="{BB962C8B-B14F-4D97-AF65-F5344CB8AC3E}">
        <p14:creationId xmlns:p14="http://schemas.microsoft.com/office/powerpoint/2010/main" val="2631578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76399-EF5B-456A-A70D-0C539E786DF5}"/>
              </a:ext>
            </a:extLst>
          </p:cNvPr>
          <p:cNvSpPr>
            <a:spLocks noGrp="1"/>
          </p:cNvSpPr>
          <p:nvPr>
            <p:ph type="title"/>
          </p:nvPr>
        </p:nvSpPr>
        <p:spPr/>
        <p:txBody>
          <a:bodyPr/>
          <a:lstStyle/>
          <a:p>
            <a:r>
              <a:rPr lang="en-US" dirty="0"/>
              <a:t>Types of CMS</a:t>
            </a:r>
          </a:p>
        </p:txBody>
      </p:sp>
      <p:sp>
        <p:nvSpPr>
          <p:cNvPr id="3" name="Content Placeholder 2">
            <a:extLst>
              <a:ext uri="{FF2B5EF4-FFF2-40B4-BE49-F238E27FC236}">
                <a16:creationId xmlns:a16="http://schemas.microsoft.com/office/drawing/2014/main" id="{DCEAEBA1-7396-4E4C-B8E8-9D18327105C8}"/>
              </a:ext>
            </a:extLst>
          </p:cNvPr>
          <p:cNvSpPr>
            <a:spLocks noGrp="1"/>
          </p:cNvSpPr>
          <p:nvPr>
            <p:ph sz="half" idx="1"/>
          </p:nvPr>
        </p:nvSpPr>
        <p:spPr/>
        <p:txBody>
          <a:bodyPr>
            <a:normAutofit/>
          </a:bodyPr>
          <a:lstStyle/>
          <a:p>
            <a:pPr algn="just"/>
            <a:r>
              <a:rPr lang="en-US" sz="3500" dirty="0">
                <a:solidFill>
                  <a:srgbClr val="FF0000"/>
                </a:solidFill>
              </a:rPr>
              <a:t>Coupled CMS</a:t>
            </a:r>
          </a:p>
          <a:p>
            <a:pPr algn="just"/>
            <a:r>
              <a:rPr lang="en-US" sz="3500" dirty="0" err="1"/>
              <a:t>Saas</a:t>
            </a:r>
            <a:r>
              <a:rPr lang="en-US" sz="3500" dirty="0"/>
              <a:t> CMS</a:t>
            </a:r>
          </a:p>
          <a:p>
            <a:pPr algn="just"/>
            <a:r>
              <a:rPr lang="en-US" sz="3500" dirty="0"/>
              <a:t>Decoupled CMS</a:t>
            </a:r>
          </a:p>
          <a:p>
            <a:pPr algn="just"/>
            <a:r>
              <a:rPr lang="en-US" sz="3500" dirty="0"/>
              <a:t>Headless CMS</a:t>
            </a:r>
          </a:p>
          <a:p>
            <a:pPr marL="0" indent="0" algn="just">
              <a:buNone/>
            </a:pPr>
            <a:endParaRPr lang="en-US" sz="3500" dirty="0"/>
          </a:p>
          <a:p>
            <a:pPr marL="0" indent="0" algn="just">
              <a:buNone/>
            </a:pPr>
            <a:endParaRPr lang="en-US" sz="3500" dirty="0"/>
          </a:p>
        </p:txBody>
      </p:sp>
      <p:sp>
        <p:nvSpPr>
          <p:cNvPr id="5" name="Content Placeholder 4">
            <a:extLst>
              <a:ext uri="{FF2B5EF4-FFF2-40B4-BE49-F238E27FC236}">
                <a16:creationId xmlns:a16="http://schemas.microsoft.com/office/drawing/2014/main" id="{65F7FBFF-B753-4729-9408-35E6826E5F14}"/>
              </a:ext>
            </a:extLst>
          </p:cNvPr>
          <p:cNvSpPr>
            <a:spLocks noGrp="1"/>
          </p:cNvSpPr>
          <p:nvPr>
            <p:ph sz="half" idx="2"/>
          </p:nvPr>
        </p:nvSpPr>
        <p:spPr/>
        <p:txBody>
          <a:bodyPr>
            <a:normAutofit/>
          </a:bodyPr>
          <a:lstStyle/>
          <a:p>
            <a:pPr algn="just"/>
            <a:r>
              <a:rPr lang="en-US" dirty="0"/>
              <a:t>A coupled CMS is often referred to as a traditional CMS. It offers a fully accessible back end that connects to and modifies a website’s database and publishes content to a styled front end.</a:t>
            </a:r>
          </a:p>
        </p:txBody>
      </p:sp>
      <p:sp>
        <p:nvSpPr>
          <p:cNvPr id="4" name="Footer Placeholder 3">
            <a:extLst>
              <a:ext uri="{FF2B5EF4-FFF2-40B4-BE49-F238E27FC236}">
                <a16:creationId xmlns:a16="http://schemas.microsoft.com/office/drawing/2014/main" id="{4C8C2A86-E518-491F-973F-9B3EEBC939F6}"/>
              </a:ext>
            </a:extLst>
          </p:cNvPr>
          <p:cNvSpPr>
            <a:spLocks noGrp="1"/>
          </p:cNvSpPr>
          <p:nvPr>
            <p:ph type="ftr" sz="quarter" idx="11"/>
          </p:nvPr>
        </p:nvSpPr>
        <p:spPr>
          <a:xfrm>
            <a:off x="838200" y="6356350"/>
            <a:ext cx="10515600" cy="501650"/>
          </a:xfrm>
        </p:spPr>
        <p:txBody>
          <a:bodyPr/>
          <a:lstStyle/>
          <a:p>
            <a:pPr algn="l"/>
            <a:r>
              <a:rPr lang="en-US" dirty="0">
                <a:hlinkClick r:id="rId2"/>
              </a:rPr>
              <a:t>https://www.oracle.com/ph/content-management/what-is-cms/#:~:text=Basically%2C%20a%20CMS%20platform%20takes,web%20browser%20can%20read%20it</a:t>
            </a:r>
            <a:r>
              <a:rPr lang="en-US" dirty="0"/>
              <a:t>.</a:t>
            </a:r>
          </a:p>
          <a:p>
            <a:pPr algn="l"/>
            <a:endParaRPr lang="en-US" dirty="0"/>
          </a:p>
        </p:txBody>
      </p:sp>
    </p:spTree>
    <p:extLst>
      <p:ext uri="{BB962C8B-B14F-4D97-AF65-F5344CB8AC3E}">
        <p14:creationId xmlns:p14="http://schemas.microsoft.com/office/powerpoint/2010/main" val="3203148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76399-EF5B-456A-A70D-0C539E786DF5}"/>
              </a:ext>
            </a:extLst>
          </p:cNvPr>
          <p:cNvSpPr>
            <a:spLocks noGrp="1"/>
          </p:cNvSpPr>
          <p:nvPr>
            <p:ph type="title"/>
          </p:nvPr>
        </p:nvSpPr>
        <p:spPr/>
        <p:txBody>
          <a:bodyPr/>
          <a:lstStyle/>
          <a:p>
            <a:pPr algn="l"/>
            <a:r>
              <a:rPr lang="en-US" dirty="0"/>
              <a:t>Types of CMS</a:t>
            </a:r>
          </a:p>
        </p:txBody>
      </p:sp>
      <p:sp>
        <p:nvSpPr>
          <p:cNvPr id="3" name="Content Placeholder 2">
            <a:extLst>
              <a:ext uri="{FF2B5EF4-FFF2-40B4-BE49-F238E27FC236}">
                <a16:creationId xmlns:a16="http://schemas.microsoft.com/office/drawing/2014/main" id="{DCEAEBA1-7396-4E4C-B8E8-9D18327105C8}"/>
              </a:ext>
            </a:extLst>
          </p:cNvPr>
          <p:cNvSpPr>
            <a:spLocks noGrp="1"/>
          </p:cNvSpPr>
          <p:nvPr>
            <p:ph sz="half" idx="1"/>
          </p:nvPr>
        </p:nvSpPr>
        <p:spPr/>
        <p:txBody>
          <a:bodyPr>
            <a:normAutofit/>
          </a:bodyPr>
          <a:lstStyle/>
          <a:p>
            <a:pPr algn="just"/>
            <a:r>
              <a:rPr lang="en-US" sz="3500" dirty="0"/>
              <a:t>Coupled CMS</a:t>
            </a:r>
          </a:p>
          <a:p>
            <a:pPr algn="just"/>
            <a:r>
              <a:rPr lang="en-US" sz="3500" dirty="0">
                <a:solidFill>
                  <a:srgbClr val="FF0000"/>
                </a:solidFill>
              </a:rPr>
              <a:t>SaaS CMS</a:t>
            </a:r>
          </a:p>
          <a:p>
            <a:pPr algn="just"/>
            <a:r>
              <a:rPr lang="en-US" sz="3500" dirty="0"/>
              <a:t>Decoupled CMS</a:t>
            </a:r>
          </a:p>
          <a:p>
            <a:pPr algn="just"/>
            <a:r>
              <a:rPr lang="en-US" sz="3500" dirty="0"/>
              <a:t>Headless CMS</a:t>
            </a:r>
          </a:p>
          <a:p>
            <a:pPr marL="0" indent="0" algn="just">
              <a:buNone/>
            </a:pPr>
            <a:endParaRPr lang="en-US" sz="3500" dirty="0"/>
          </a:p>
          <a:p>
            <a:pPr marL="0" indent="0" algn="just">
              <a:buNone/>
            </a:pPr>
            <a:endParaRPr lang="en-US" sz="3500" dirty="0"/>
          </a:p>
        </p:txBody>
      </p:sp>
      <p:sp>
        <p:nvSpPr>
          <p:cNvPr id="5" name="Content Placeholder 4">
            <a:extLst>
              <a:ext uri="{FF2B5EF4-FFF2-40B4-BE49-F238E27FC236}">
                <a16:creationId xmlns:a16="http://schemas.microsoft.com/office/drawing/2014/main" id="{65F7FBFF-B753-4729-9408-35E6826E5F14}"/>
              </a:ext>
            </a:extLst>
          </p:cNvPr>
          <p:cNvSpPr>
            <a:spLocks noGrp="1"/>
          </p:cNvSpPr>
          <p:nvPr>
            <p:ph sz="half" idx="2"/>
          </p:nvPr>
        </p:nvSpPr>
        <p:spPr/>
        <p:txBody>
          <a:bodyPr>
            <a:normAutofit/>
          </a:bodyPr>
          <a:lstStyle/>
          <a:p>
            <a:pPr algn="just"/>
            <a:r>
              <a:rPr lang="en-US" dirty="0"/>
              <a:t>A SaaS CMS is also a complete, end-to-end solution, but unlike coupled CMS, SaaS CMS is hosted in the cloud. Which means that it requires no actual setup, installation, or preconfigured web hosting.</a:t>
            </a:r>
          </a:p>
        </p:txBody>
      </p:sp>
      <p:sp>
        <p:nvSpPr>
          <p:cNvPr id="4" name="Footer Placeholder 3">
            <a:extLst>
              <a:ext uri="{FF2B5EF4-FFF2-40B4-BE49-F238E27FC236}">
                <a16:creationId xmlns:a16="http://schemas.microsoft.com/office/drawing/2014/main" id="{4C8C2A86-E518-491F-973F-9B3EEBC939F6}"/>
              </a:ext>
            </a:extLst>
          </p:cNvPr>
          <p:cNvSpPr>
            <a:spLocks noGrp="1"/>
          </p:cNvSpPr>
          <p:nvPr>
            <p:ph type="ftr" sz="quarter" idx="11"/>
          </p:nvPr>
        </p:nvSpPr>
        <p:spPr>
          <a:xfrm>
            <a:off x="838200" y="6356350"/>
            <a:ext cx="10515600" cy="501650"/>
          </a:xfrm>
        </p:spPr>
        <p:txBody>
          <a:bodyPr/>
          <a:lstStyle/>
          <a:p>
            <a:pPr algn="l"/>
            <a:r>
              <a:rPr lang="en-US" dirty="0">
                <a:hlinkClick r:id="rId2"/>
              </a:rPr>
              <a:t>https://www.oracle.com/ph/content-management/what-is-cms/#:~:text=Basically%2C%20a%20CMS%20platform%20takes,web%20browser%20can%20read%20it</a:t>
            </a:r>
            <a:r>
              <a:rPr lang="en-US" dirty="0"/>
              <a:t>.</a:t>
            </a:r>
          </a:p>
          <a:p>
            <a:pPr algn="l"/>
            <a:endParaRPr lang="en-US" dirty="0"/>
          </a:p>
        </p:txBody>
      </p:sp>
    </p:spTree>
    <p:extLst>
      <p:ext uri="{BB962C8B-B14F-4D97-AF65-F5344CB8AC3E}">
        <p14:creationId xmlns:p14="http://schemas.microsoft.com/office/powerpoint/2010/main" val="2824648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76399-EF5B-456A-A70D-0C539E786DF5}"/>
              </a:ext>
            </a:extLst>
          </p:cNvPr>
          <p:cNvSpPr>
            <a:spLocks noGrp="1"/>
          </p:cNvSpPr>
          <p:nvPr>
            <p:ph type="title"/>
          </p:nvPr>
        </p:nvSpPr>
        <p:spPr/>
        <p:txBody>
          <a:bodyPr/>
          <a:lstStyle/>
          <a:p>
            <a:pPr algn="l"/>
            <a:r>
              <a:rPr lang="en-US" dirty="0"/>
              <a:t>Types of CMS</a:t>
            </a:r>
          </a:p>
        </p:txBody>
      </p:sp>
      <p:sp>
        <p:nvSpPr>
          <p:cNvPr id="3" name="Content Placeholder 2">
            <a:extLst>
              <a:ext uri="{FF2B5EF4-FFF2-40B4-BE49-F238E27FC236}">
                <a16:creationId xmlns:a16="http://schemas.microsoft.com/office/drawing/2014/main" id="{DCEAEBA1-7396-4E4C-B8E8-9D18327105C8}"/>
              </a:ext>
            </a:extLst>
          </p:cNvPr>
          <p:cNvSpPr>
            <a:spLocks noGrp="1"/>
          </p:cNvSpPr>
          <p:nvPr>
            <p:ph sz="half" idx="1"/>
          </p:nvPr>
        </p:nvSpPr>
        <p:spPr/>
        <p:txBody>
          <a:bodyPr>
            <a:normAutofit/>
          </a:bodyPr>
          <a:lstStyle/>
          <a:p>
            <a:pPr algn="just"/>
            <a:r>
              <a:rPr lang="en-US" sz="3500" dirty="0"/>
              <a:t>Coupled CMS</a:t>
            </a:r>
          </a:p>
          <a:p>
            <a:pPr algn="just"/>
            <a:r>
              <a:rPr lang="en-US" sz="3500" dirty="0"/>
              <a:t>SaaS CMS</a:t>
            </a:r>
          </a:p>
          <a:p>
            <a:pPr algn="just"/>
            <a:r>
              <a:rPr lang="en-US" sz="3500" dirty="0">
                <a:solidFill>
                  <a:srgbClr val="FF0000"/>
                </a:solidFill>
              </a:rPr>
              <a:t>Decoupled CMS</a:t>
            </a:r>
          </a:p>
          <a:p>
            <a:pPr algn="just"/>
            <a:r>
              <a:rPr lang="en-US" sz="3500" dirty="0"/>
              <a:t>Headless CMS</a:t>
            </a:r>
          </a:p>
          <a:p>
            <a:pPr marL="0" indent="0" algn="just">
              <a:buNone/>
            </a:pPr>
            <a:endParaRPr lang="en-US" sz="3500" dirty="0"/>
          </a:p>
          <a:p>
            <a:pPr marL="0" indent="0" algn="just">
              <a:buNone/>
            </a:pPr>
            <a:endParaRPr lang="en-US" sz="3500" dirty="0"/>
          </a:p>
        </p:txBody>
      </p:sp>
      <p:sp>
        <p:nvSpPr>
          <p:cNvPr id="5" name="Content Placeholder 4">
            <a:extLst>
              <a:ext uri="{FF2B5EF4-FFF2-40B4-BE49-F238E27FC236}">
                <a16:creationId xmlns:a16="http://schemas.microsoft.com/office/drawing/2014/main" id="{65F7FBFF-B753-4729-9408-35E6826E5F14}"/>
              </a:ext>
            </a:extLst>
          </p:cNvPr>
          <p:cNvSpPr>
            <a:spLocks noGrp="1"/>
          </p:cNvSpPr>
          <p:nvPr>
            <p:ph sz="half" idx="2"/>
          </p:nvPr>
        </p:nvSpPr>
        <p:spPr/>
        <p:txBody>
          <a:bodyPr>
            <a:normAutofit/>
          </a:bodyPr>
          <a:lstStyle/>
          <a:p>
            <a:pPr algn="just"/>
            <a:r>
              <a:rPr lang="en-US" dirty="0"/>
              <a:t>In a decoupled CMS, the presentation part of the website is “decoupled” from the back end. The delivery system sits between the presentation of the website and accesses the back end through an application programming interface (API).</a:t>
            </a:r>
          </a:p>
        </p:txBody>
      </p:sp>
      <p:sp>
        <p:nvSpPr>
          <p:cNvPr id="4" name="Footer Placeholder 3">
            <a:extLst>
              <a:ext uri="{FF2B5EF4-FFF2-40B4-BE49-F238E27FC236}">
                <a16:creationId xmlns:a16="http://schemas.microsoft.com/office/drawing/2014/main" id="{4C8C2A86-E518-491F-973F-9B3EEBC939F6}"/>
              </a:ext>
            </a:extLst>
          </p:cNvPr>
          <p:cNvSpPr>
            <a:spLocks noGrp="1"/>
          </p:cNvSpPr>
          <p:nvPr>
            <p:ph type="ftr" sz="quarter" idx="11"/>
          </p:nvPr>
        </p:nvSpPr>
        <p:spPr>
          <a:xfrm>
            <a:off x="838200" y="6356350"/>
            <a:ext cx="10515600" cy="501650"/>
          </a:xfrm>
        </p:spPr>
        <p:txBody>
          <a:bodyPr/>
          <a:lstStyle/>
          <a:p>
            <a:pPr algn="l"/>
            <a:r>
              <a:rPr lang="en-US" dirty="0">
                <a:hlinkClick r:id="rId2"/>
              </a:rPr>
              <a:t>https://www.oracle.com/ph/content-management/what-is-cms/#:~:text=Basically%2C%20a%20CMS%20platform%20takes,web%20browser%20can%20read%20it</a:t>
            </a:r>
            <a:r>
              <a:rPr lang="en-US" dirty="0"/>
              <a:t>.</a:t>
            </a:r>
          </a:p>
          <a:p>
            <a:pPr algn="l"/>
            <a:endParaRPr lang="en-US" dirty="0"/>
          </a:p>
        </p:txBody>
      </p:sp>
    </p:spTree>
    <p:extLst>
      <p:ext uri="{BB962C8B-B14F-4D97-AF65-F5344CB8AC3E}">
        <p14:creationId xmlns:p14="http://schemas.microsoft.com/office/powerpoint/2010/main" val="2363560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76399-EF5B-456A-A70D-0C539E786DF5}"/>
              </a:ext>
            </a:extLst>
          </p:cNvPr>
          <p:cNvSpPr>
            <a:spLocks noGrp="1"/>
          </p:cNvSpPr>
          <p:nvPr>
            <p:ph type="title"/>
          </p:nvPr>
        </p:nvSpPr>
        <p:spPr/>
        <p:txBody>
          <a:bodyPr/>
          <a:lstStyle/>
          <a:p>
            <a:pPr algn="l"/>
            <a:r>
              <a:rPr lang="en-US" dirty="0"/>
              <a:t>Types of CMS</a:t>
            </a:r>
          </a:p>
        </p:txBody>
      </p:sp>
      <p:sp>
        <p:nvSpPr>
          <p:cNvPr id="3" name="Content Placeholder 2">
            <a:extLst>
              <a:ext uri="{FF2B5EF4-FFF2-40B4-BE49-F238E27FC236}">
                <a16:creationId xmlns:a16="http://schemas.microsoft.com/office/drawing/2014/main" id="{DCEAEBA1-7396-4E4C-B8E8-9D18327105C8}"/>
              </a:ext>
            </a:extLst>
          </p:cNvPr>
          <p:cNvSpPr>
            <a:spLocks noGrp="1"/>
          </p:cNvSpPr>
          <p:nvPr>
            <p:ph sz="half" idx="1"/>
          </p:nvPr>
        </p:nvSpPr>
        <p:spPr/>
        <p:txBody>
          <a:bodyPr>
            <a:normAutofit/>
          </a:bodyPr>
          <a:lstStyle/>
          <a:p>
            <a:pPr algn="just"/>
            <a:r>
              <a:rPr lang="en-US" sz="3500" dirty="0"/>
              <a:t>Coupled CMS</a:t>
            </a:r>
          </a:p>
          <a:p>
            <a:pPr algn="just"/>
            <a:r>
              <a:rPr lang="en-US" sz="3500" dirty="0"/>
              <a:t>SaaS CMS</a:t>
            </a:r>
          </a:p>
          <a:p>
            <a:pPr algn="just"/>
            <a:r>
              <a:rPr lang="en-US" sz="3500" dirty="0"/>
              <a:t>Decoupled CMS</a:t>
            </a:r>
          </a:p>
          <a:p>
            <a:pPr algn="just"/>
            <a:r>
              <a:rPr lang="en-US" sz="3500" dirty="0">
                <a:solidFill>
                  <a:srgbClr val="FF0000"/>
                </a:solidFill>
              </a:rPr>
              <a:t>Headless CMS</a:t>
            </a:r>
          </a:p>
          <a:p>
            <a:pPr marL="0" indent="0" algn="just">
              <a:buNone/>
            </a:pPr>
            <a:endParaRPr lang="en-US" sz="3500" dirty="0"/>
          </a:p>
          <a:p>
            <a:pPr marL="0" indent="0" algn="just">
              <a:buNone/>
            </a:pPr>
            <a:endParaRPr lang="en-US" sz="3500" dirty="0"/>
          </a:p>
        </p:txBody>
      </p:sp>
      <p:sp>
        <p:nvSpPr>
          <p:cNvPr id="5" name="Content Placeholder 4">
            <a:extLst>
              <a:ext uri="{FF2B5EF4-FFF2-40B4-BE49-F238E27FC236}">
                <a16:creationId xmlns:a16="http://schemas.microsoft.com/office/drawing/2014/main" id="{65F7FBFF-B753-4729-9408-35E6826E5F14}"/>
              </a:ext>
            </a:extLst>
          </p:cNvPr>
          <p:cNvSpPr>
            <a:spLocks noGrp="1"/>
          </p:cNvSpPr>
          <p:nvPr>
            <p:ph sz="half" idx="2"/>
          </p:nvPr>
        </p:nvSpPr>
        <p:spPr/>
        <p:txBody>
          <a:bodyPr>
            <a:normAutofit/>
          </a:bodyPr>
          <a:lstStyle/>
          <a:p>
            <a:pPr algn="just"/>
            <a:r>
              <a:rPr lang="en-US" dirty="0"/>
              <a:t>A headless CMS is a content management system that separates the presentation layer (where content is presented) from the backend (where content is managed). A headless CMS allows you to manage content in one place and be able to deploy that content on any digital channel you choose.</a:t>
            </a:r>
          </a:p>
        </p:txBody>
      </p:sp>
      <p:sp>
        <p:nvSpPr>
          <p:cNvPr id="4" name="Footer Placeholder 3">
            <a:extLst>
              <a:ext uri="{FF2B5EF4-FFF2-40B4-BE49-F238E27FC236}">
                <a16:creationId xmlns:a16="http://schemas.microsoft.com/office/drawing/2014/main" id="{4C8C2A86-E518-491F-973F-9B3EEBC939F6}"/>
              </a:ext>
            </a:extLst>
          </p:cNvPr>
          <p:cNvSpPr>
            <a:spLocks noGrp="1"/>
          </p:cNvSpPr>
          <p:nvPr>
            <p:ph type="ftr" sz="quarter" idx="11"/>
          </p:nvPr>
        </p:nvSpPr>
        <p:spPr>
          <a:xfrm>
            <a:off x="838200" y="6356350"/>
            <a:ext cx="10515600" cy="501650"/>
          </a:xfrm>
        </p:spPr>
        <p:txBody>
          <a:bodyPr/>
          <a:lstStyle/>
          <a:p>
            <a:pPr algn="l"/>
            <a:r>
              <a:rPr lang="en-US" dirty="0"/>
              <a:t>https://www.contentful.com/headless-cms/</a:t>
            </a:r>
          </a:p>
        </p:txBody>
      </p:sp>
    </p:spTree>
    <p:extLst>
      <p:ext uri="{BB962C8B-B14F-4D97-AF65-F5344CB8AC3E}">
        <p14:creationId xmlns:p14="http://schemas.microsoft.com/office/powerpoint/2010/main" val="4228959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025C4-2F83-4F2A-8A3F-6C6E76D47A77}"/>
              </a:ext>
            </a:extLst>
          </p:cNvPr>
          <p:cNvSpPr>
            <a:spLocks noGrp="1"/>
          </p:cNvSpPr>
          <p:nvPr>
            <p:ph type="title"/>
          </p:nvPr>
        </p:nvSpPr>
        <p:spPr/>
        <p:txBody>
          <a:bodyPr/>
          <a:lstStyle/>
          <a:p>
            <a:pPr algn="l"/>
            <a:r>
              <a:rPr lang="en-US" dirty="0"/>
              <a:t>Difference between headless and decoupled CMS</a:t>
            </a:r>
          </a:p>
        </p:txBody>
      </p:sp>
      <p:sp>
        <p:nvSpPr>
          <p:cNvPr id="6" name="Content Placeholder 5">
            <a:extLst>
              <a:ext uri="{FF2B5EF4-FFF2-40B4-BE49-F238E27FC236}">
                <a16:creationId xmlns:a16="http://schemas.microsoft.com/office/drawing/2014/main" id="{AEBD3BA1-DB92-4085-B51A-B229FD7CBC0A}"/>
              </a:ext>
            </a:extLst>
          </p:cNvPr>
          <p:cNvSpPr>
            <a:spLocks noGrp="1"/>
          </p:cNvSpPr>
          <p:nvPr>
            <p:ph idx="1"/>
          </p:nvPr>
        </p:nvSpPr>
        <p:spPr/>
        <p:txBody>
          <a:bodyPr>
            <a:normAutofit/>
          </a:bodyPr>
          <a:lstStyle/>
          <a:p>
            <a:pPr marL="0" indent="0" algn="just" fontAlgn="base">
              <a:buNone/>
            </a:pPr>
            <a:r>
              <a:rPr lang="en-US" dirty="0"/>
              <a:t>Technically, a headless CMS has a decoupled architecture, which is why the terms can be confused. But while headless CMSs are decoupled, not all CMSs with a decoupled architecture are headless. Often, a decoupled system has an optional front end, while a headless CMS has none at all. In other words, a headless CMS is truly </a:t>
            </a:r>
            <a:r>
              <a:rPr lang="en-US" b="1" dirty="0"/>
              <a:t>front-end agnostic</a:t>
            </a:r>
            <a:r>
              <a:rPr lang="en-US" dirty="0"/>
              <a:t>. </a:t>
            </a:r>
          </a:p>
          <a:p>
            <a:pPr marL="0" indent="0" algn="just" fontAlgn="base">
              <a:buNone/>
            </a:pPr>
            <a:endParaRPr lang="en-US" dirty="0"/>
          </a:p>
          <a:p>
            <a:pPr marL="0" indent="0" algn="just" fontAlgn="base">
              <a:buNone/>
            </a:pPr>
            <a:r>
              <a:rPr lang="en-US" dirty="0"/>
              <a:t>The distinctions between headless and decoupled can be pretty nuanced and hard to parse. Here’s a good rule of thumb: “Headless” usually refers to the CMS or the service providing data via the API, and “decoupled” typically refers to the architecture or the front-end application itself.</a:t>
            </a:r>
          </a:p>
          <a:p>
            <a:endParaRPr lang="en-US" dirty="0"/>
          </a:p>
        </p:txBody>
      </p:sp>
      <p:sp>
        <p:nvSpPr>
          <p:cNvPr id="5" name="Footer Placeholder 4">
            <a:extLst>
              <a:ext uri="{FF2B5EF4-FFF2-40B4-BE49-F238E27FC236}">
                <a16:creationId xmlns:a16="http://schemas.microsoft.com/office/drawing/2014/main" id="{86DFC1B0-6967-4B9C-9896-9547764A5150}"/>
              </a:ext>
            </a:extLst>
          </p:cNvPr>
          <p:cNvSpPr>
            <a:spLocks noGrp="1"/>
          </p:cNvSpPr>
          <p:nvPr>
            <p:ph type="ftr" sz="quarter" idx="11"/>
          </p:nvPr>
        </p:nvSpPr>
        <p:spPr>
          <a:xfrm>
            <a:off x="838200" y="6356350"/>
            <a:ext cx="7315200" cy="501650"/>
          </a:xfrm>
        </p:spPr>
        <p:txBody>
          <a:bodyPr/>
          <a:lstStyle/>
          <a:p>
            <a:pPr algn="l"/>
            <a:r>
              <a:rPr lang="en-US" dirty="0"/>
              <a:t>https://www.acquia.com/blog/decoupled-vs-headless-cms</a:t>
            </a:r>
          </a:p>
        </p:txBody>
      </p:sp>
    </p:spTree>
    <p:extLst>
      <p:ext uri="{BB962C8B-B14F-4D97-AF65-F5344CB8AC3E}">
        <p14:creationId xmlns:p14="http://schemas.microsoft.com/office/powerpoint/2010/main" val="3792001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4DD3FD6-59B7-41CC-A380-BEA8BF409E33}"/>
              </a:ext>
            </a:extLst>
          </p:cNvPr>
          <p:cNvSpPr>
            <a:spLocks noGrp="1"/>
          </p:cNvSpPr>
          <p:nvPr>
            <p:ph type="ctrTitle"/>
          </p:nvPr>
        </p:nvSpPr>
        <p:spPr/>
        <p:txBody>
          <a:bodyPr/>
          <a:lstStyle/>
          <a:p>
            <a:r>
              <a:rPr lang="en-US" dirty="0"/>
              <a:t>Components of a CMS</a:t>
            </a:r>
          </a:p>
        </p:txBody>
      </p:sp>
      <p:sp>
        <p:nvSpPr>
          <p:cNvPr id="6" name="Subtitle 5">
            <a:extLst>
              <a:ext uri="{FF2B5EF4-FFF2-40B4-BE49-F238E27FC236}">
                <a16:creationId xmlns:a16="http://schemas.microsoft.com/office/drawing/2014/main" id="{B332A03E-3874-4BFE-8A7C-18C1CB025074}"/>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18C5C8B4-25DC-4879-B52E-1D956F76D5B4}"/>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448978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8595B-0A8F-4AC4-B683-CBAF11B4DAEE}"/>
              </a:ext>
            </a:extLst>
          </p:cNvPr>
          <p:cNvSpPr>
            <a:spLocks noGrp="1"/>
          </p:cNvSpPr>
          <p:nvPr>
            <p:ph type="title"/>
          </p:nvPr>
        </p:nvSpPr>
        <p:spPr/>
        <p:txBody>
          <a:bodyPr/>
          <a:lstStyle/>
          <a:p>
            <a:pPr algn="l"/>
            <a:r>
              <a:rPr lang="en-US" dirty="0"/>
              <a:t>What are the different components of a CMS?</a:t>
            </a:r>
          </a:p>
        </p:txBody>
      </p:sp>
      <p:sp>
        <p:nvSpPr>
          <p:cNvPr id="3" name="Content Placeholder 2">
            <a:extLst>
              <a:ext uri="{FF2B5EF4-FFF2-40B4-BE49-F238E27FC236}">
                <a16:creationId xmlns:a16="http://schemas.microsoft.com/office/drawing/2014/main" id="{7B521808-DB5A-4D22-B3A8-EC80908B4148}"/>
              </a:ext>
            </a:extLst>
          </p:cNvPr>
          <p:cNvSpPr>
            <a:spLocks noGrp="1"/>
          </p:cNvSpPr>
          <p:nvPr>
            <p:ph idx="1"/>
          </p:nvPr>
        </p:nvSpPr>
        <p:spPr/>
        <p:txBody>
          <a:bodyPr/>
          <a:lstStyle/>
          <a:p>
            <a:r>
              <a:rPr lang="en-US" dirty="0"/>
              <a:t>Data repository</a:t>
            </a:r>
          </a:p>
          <a:p>
            <a:r>
              <a:rPr lang="en-US" dirty="0"/>
              <a:t>User interface</a:t>
            </a:r>
          </a:p>
          <a:p>
            <a:r>
              <a:rPr lang="en-US" dirty="0"/>
              <a:t>Editorial tools</a:t>
            </a:r>
          </a:p>
          <a:p>
            <a:r>
              <a:rPr lang="en-US" dirty="0"/>
              <a:t>Workflow scheme</a:t>
            </a:r>
          </a:p>
          <a:p>
            <a:r>
              <a:rPr lang="en-US" dirty="0"/>
              <a:t>Output utilities</a:t>
            </a:r>
          </a:p>
        </p:txBody>
      </p:sp>
      <p:sp>
        <p:nvSpPr>
          <p:cNvPr id="4" name="Footer Placeholder 3">
            <a:extLst>
              <a:ext uri="{FF2B5EF4-FFF2-40B4-BE49-F238E27FC236}">
                <a16:creationId xmlns:a16="http://schemas.microsoft.com/office/drawing/2014/main" id="{7F2A9534-917C-4FD1-97E4-C8B69B666E82}"/>
              </a:ext>
            </a:extLst>
          </p:cNvPr>
          <p:cNvSpPr>
            <a:spLocks noGrp="1"/>
          </p:cNvSpPr>
          <p:nvPr>
            <p:ph type="ftr" sz="quarter" idx="11"/>
          </p:nvPr>
        </p:nvSpPr>
        <p:spPr>
          <a:xfrm>
            <a:off x="838200" y="6356350"/>
            <a:ext cx="10657114" cy="305707"/>
          </a:xfrm>
        </p:spPr>
        <p:txBody>
          <a:bodyPr/>
          <a:lstStyle/>
          <a:p>
            <a:pPr algn="l"/>
            <a:r>
              <a:rPr lang="en-US" dirty="0"/>
              <a:t>https://quod.lib.umich.edu/j/jep/3336451.0003.408?view=text;rgn=main#:~:text=The%20major%20components%20of%20a,editorial%20tools%2C%20and%20output%20utilities.</a:t>
            </a:r>
          </a:p>
        </p:txBody>
      </p:sp>
    </p:spTree>
    <p:extLst>
      <p:ext uri="{BB962C8B-B14F-4D97-AF65-F5344CB8AC3E}">
        <p14:creationId xmlns:p14="http://schemas.microsoft.com/office/powerpoint/2010/main" val="2696789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4F066-93AF-4B0D-BB0A-BF457B750EFF}"/>
              </a:ext>
            </a:extLst>
          </p:cNvPr>
          <p:cNvSpPr>
            <a:spLocks noGrp="1"/>
          </p:cNvSpPr>
          <p:nvPr>
            <p:ph type="title"/>
          </p:nvPr>
        </p:nvSpPr>
        <p:spPr/>
        <p:txBody>
          <a:bodyPr/>
          <a:lstStyle/>
          <a:p>
            <a:pPr algn="l"/>
            <a:r>
              <a:rPr lang="en-US" dirty="0"/>
              <a:t>Data repository</a:t>
            </a:r>
          </a:p>
        </p:txBody>
      </p:sp>
      <p:sp>
        <p:nvSpPr>
          <p:cNvPr id="3" name="Content Placeholder 2">
            <a:extLst>
              <a:ext uri="{FF2B5EF4-FFF2-40B4-BE49-F238E27FC236}">
                <a16:creationId xmlns:a16="http://schemas.microsoft.com/office/drawing/2014/main" id="{3AE19B80-68B8-461A-A2CC-28EE377CE72F}"/>
              </a:ext>
            </a:extLst>
          </p:cNvPr>
          <p:cNvSpPr>
            <a:spLocks noGrp="1"/>
          </p:cNvSpPr>
          <p:nvPr>
            <p:ph idx="1"/>
          </p:nvPr>
        </p:nvSpPr>
        <p:spPr/>
        <p:txBody>
          <a:bodyPr>
            <a:noAutofit/>
          </a:bodyPr>
          <a:lstStyle/>
          <a:p>
            <a:pPr marL="0" indent="0" algn="just" fontAlgn="base">
              <a:buNone/>
            </a:pPr>
            <a:r>
              <a:rPr lang="en-US" dirty="0"/>
              <a:t>Also called a database, the data repository is the organization of the content to facilitate access, updating, and re-distribution. The specific organization of the information will depend on how it is to be accessed, but generally it will be broken down to its lowest logical level of granularity. The data repository might be one of the commercial relational-database products of varying size and power, or a custom database. The format of the information might be SGML or even plain ASCII text. It may be accessed from a local network, intranet, or the Internet, and security to control authorized access must be thought out and included.</a:t>
            </a:r>
            <a:br>
              <a:rPr lang="en-US" dirty="0"/>
            </a:br>
            <a:endParaRPr lang="en-US" dirty="0"/>
          </a:p>
        </p:txBody>
      </p:sp>
      <p:sp>
        <p:nvSpPr>
          <p:cNvPr id="4" name="Footer Placeholder 3">
            <a:extLst>
              <a:ext uri="{FF2B5EF4-FFF2-40B4-BE49-F238E27FC236}">
                <a16:creationId xmlns:a16="http://schemas.microsoft.com/office/drawing/2014/main" id="{BB3E4B35-206B-4796-831B-0A7BDBE115DA}"/>
              </a:ext>
            </a:extLst>
          </p:cNvPr>
          <p:cNvSpPr>
            <a:spLocks noGrp="1"/>
          </p:cNvSpPr>
          <p:nvPr>
            <p:ph type="ftr" sz="quarter" idx="11"/>
          </p:nvPr>
        </p:nvSpPr>
        <p:spPr>
          <a:xfrm>
            <a:off x="838200" y="6356351"/>
            <a:ext cx="10515600" cy="324367"/>
          </a:xfrm>
        </p:spPr>
        <p:txBody>
          <a:bodyPr/>
          <a:lstStyle/>
          <a:p>
            <a:pPr algn="l"/>
            <a:r>
              <a:rPr lang="en-US" dirty="0"/>
              <a:t>https://quod.lib.umich.edu/j/jep/3336451.0003.408?view=text;rgn=main#:~:text=The%20major%20components%20of%20a,editorial%20tools%2C%20and%20output%20utilities.</a:t>
            </a:r>
          </a:p>
        </p:txBody>
      </p:sp>
    </p:spTree>
    <p:extLst>
      <p:ext uri="{BB962C8B-B14F-4D97-AF65-F5344CB8AC3E}">
        <p14:creationId xmlns:p14="http://schemas.microsoft.com/office/powerpoint/2010/main" val="487959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7E658-9CB9-4F56-81D0-95BE35893B76}"/>
              </a:ext>
            </a:extLst>
          </p:cNvPr>
          <p:cNvSpPr>
            <a:spLocks noGrp="1"/>
          </p:cNvSpPr>
          <p:nvPr>
            <p:ph type="title"/>
          </p:nvPr>
        </p:nvSpPr>
        <p:spPr/>
        <p:txBody>
          <a:bodyPr/>
          <a:lstStyle/>
          <a:p>
            <a:pPr algn="l"/>
            <a:r>
              <a:rPr lang="en-US" dirty="0"/>
              <a:t>User interface</a:t>
            </a:r>
          </a:p>
        </p:txBody>
      </p:sp>
      <p:sp>
        <p:nvSpPr>
          <p:cNvPr id="3" name="Content Placeholder 2">
            <a:extLst>
              <a:ext uri="{FF2B5EF4-FFF2-40B4-BE49-F238E27FC236}">
                <a16:creationId xmlns:a16="http://schemas.microsoft.com/office/drawing/2014/main" id="{FBAF492C-6526-43B0-9520-26E461C9514B}"/>
              </a:ext>
            </a:extLst>
          </p:cNvPr>
          <p:cNvSpPr>
            <a:spLocks noGrp="1"/>
          </p:cNvSpPr>
          <p:nvPr>
            <p:ph idx="1"/>
          </p:nvPr>
        </p:nvSpPr>
        <p:spPr/>
        <p:txBody>
          <a:bodyPr>
            <a:normAutofit lnSpcReduction="10000"/>
          </a:bodyPr>
          <a:lstStyle/>
          <a:p>
            <a:pPr marL="0" indent="0" algn="just">
              <a:buNone/>
            </a:pPr>
            <a:r>
              <a:rPr lang="en-US" sz="3600" dirty="0"/>
              <a:t>The set of screens used to interact with the data make up the user interface. Since a CMS is typically an integration of several products, it will utilize several different-but-familiar interfaces, specifically those of Internet browsers and word processors. Frequently those are used in combination with custom interfaces designed to fit the specific process needs of an organization or publication.</a:t>
            </a:r>
          </a:p>
        </p:txBody>
      </p:sp>
      <p:sp>
        <p:nvSpPr>
          <p:cNvPr id="4" name="Footer Placeholder 3">
            <a:extLst>
              <a:ext uri="{FF2B5EF4-FFF2-40B4-BE49-F238E27FC236}">
                <a16:creationId xmlns:a16="http://schemas.microsoft.com/office/drawing/2014/main" id="{9ECC99E2-C145-4FF1-905B-E157ADCAAE2B}"/>
              </a:ext>
            </a:extLst>
          </p:cNvPr>
          <p:cNvSpPr>
            <a:spLocks noGrp="1"/>
          </p:cNvSpPr>
          <p:nvPr>
            <p:ph type="ftr" sz="quarter" idx="11"/>
          </p:nvPr>
        </p:nvSpPr>
        <p:spPr>
          <a:xfrm>
            <a:off x="970384" y="6356351"/>
            <a:ext cx="10383416" cy="324368"/>
          </a:xfrm>
        </p:spPr>
        <p:txBody>
          <a:bodyPr/>
          <a:lstStyle/>
          <a:p>
            <a:pPr algn="l"/>
            <a:r>
              <a:rPr lang="en-US" dirty="0"/>
              <a:t>https://quod.lib.umich.edu/j/jep/3336451.0003.408?view=text;rgn=main#:~:text=The%20major%20components%20of%20a,editorial%20tools%2C%20and%20output%20utilities.</a:t>
            </a:r>
          </a:p>
        </p:txBody>
      </p:sp>
    </p:spTree>
    <p:extLst>
      <p:ext uri="{BB962C8B-B14F-4D97-AF65-F5344CB8AC3E}">
        <p14:creationId xmlns:p14="http://schemas.microsoft.com/office/powerpoint/2010/main" val="1732561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D87ED-B16D-491F-A195-25D68FA679B3}"/>
              </a:ext>
            </a:extLst>
          </p:cNvPr>
          <p:cNvSpPr>
            <a:spLocks noGrp="1"/>
          </p:cNvSpPr>
          <p:nvPr>
            <p:ph type="title"/>
          </p:nvPr>
        </p:nvSpPr>
        <p:spPr/>
        <p:txBody>
          <a:bodyPr/>
          <a:lstStyle/>
          <a:p>
            <a:pPr algn="l"/>
            <a:r>
              <a:rPr lang="en-US" dirty="0"/>
              <a:t>Editorial tools</a:t>
            </a:r>
          </a:p>
        </p:txBody>
      </p:sp>
      <p:sp>
        <p:nvSpPr>
          <p:cNvPr id="3" name="Content Placeholder 2">
            <a:extLst>
              <a:ext uri="{FF2B5EF4-FFF2-40B4-BE49-F238E27FC236}">
                <a16:creationId xmlns:a16="http://schemas.microsoft.com/office/drawing/2014/main" id="{B49D0DB1-76C5-49D4-90A8-7A8824439892}"/>
              </a:ext>
            </a:extLst>
          </p:cNvPr>
          <p:cNvSpPr>
            <a:spLocks noGrp="1"/>
          </p:cNvSpPr>
          <p:nvPr>
            <p:ph idx="1"/>
          </p:nvPr>
        </p:nvSpPr>
        <p:spPr/>
        <p:txBody>
          <a:bodyPr>
            <a:normAutofit fontScale="92500" lnSpcReduction="10000"/>
          </a:bodyPr>
          <a:lstStyle/>
          <a:p>
            <a:pPr marL="0" indent="0" algn="just">
              <a:buNone/>
            </a:pPr>
            <a:r>
              <a:rPr lang="en-US" sz="3200" dirty="0"/>
              <a:t>They provide tools that allow content creation and editing, as well as a fluid file form that facilitates the ongoing processing of the content. The ideal set of editorial tools would allow authors to work in a software environment that they are comfortable with, such as a word processor or text editor, while following a few basic rules. That is preferable to an environment where the author must be proficient in SGML tagging for editorial purposes. While some authors might be intrigued by the workings of a tagging scheme, most will be distracted by them, taking away from their content focus.</a:t>
            </a:r>
          </a:p>
        </p:txBody>
      </p:sp>
      <p:sp>
        <p:nvSpPr>
          <p:cNvPr id="4" name="Footer Placeholder 3">
            <a:extLst>
              <a:ext uri="{FF2B5EF4-FFF2-40B4-BE49-F238E27FC236}">
                <a16:creationId xmlns:a16="http://schemas.microsoft.com/office/drawing/2014/main" id="{F0DDBB71-A6A6-499F-B071-0778B3A88760}"/>
              </a:ext>
            </a:extLst>
          </p:cNvPr>
          <p:cNvSpPr>
            <a:spLocks noGrp="1"/>
          </p:cNvSpPr>
          <p:nvPr>
            <p:ph type="ftr" sz="quarter" idx="11"/>
          </p:nvPr>
        </p:nvSpPr>
        <p:spPr>
          <a:xfrm>
            <a:off x="838200" y="6356350"/>
            <a:ext cx="10515600" cy="501650"/>
          </a:xfrm>
        </p:spPr>
        <p:txBody>
          <a:bodyPr/>
          <a:lstStyle/>
          <a:p>
            <a:pPr algn="l"/>
            <a:r>
              <a:rPr lang="en-US" dirty="0"/>
              <a:t>https://quod.lib.umich.edu/j/jep/3336451.0003.408?view=text;rgn=main#:~:text=The%20major%20components%20of%20a,editorial%20tools%2C%20and%20output%20utilities.</a:t>
            </a:r>
          </a:p>
        </p:txBody>
      </p:sp>
    </p:spTree>
    <p:extLst>
      <p:ext uri="{BB962C8B-B14F-4D97-AF65-F5344CB8AC3E}">
        <p14:creationId xmlns:p14="http://schemas.microsoft.com/office/powerpoint/2010/main" val="2431621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BCEF7-432B-4757-A6BC-3B1D73E55F2B}"/>
              </a:ext>
            </a:extLst>
          </p:cNvPr>
          <p:cNvSpPr>
            <a:spLocks noGrp="1"/>
          </p:cNvSpPr>
          <p:nvPr>
            <p:ph type="title"/>
          </p:nvPr>
        </p:nvSpPr>
        <p:spPr/>
        <p:txBody>
          <a:bodyPr/>
          <a:lstStyle/>
          <a:p>
            <a:pPr algn="l"/>
            <a:r>
              <a:rPr lang="en-US" dirty="0"/>
              <a:t>Workflow scheme</a:t>
            </a:r>
          </a:p>
        </p:txBody>
      </p:sp>
      <p:sp>
        <p:nvSpPr>
          <p:cNvPr id="3" name="Content Placeholder 2">
            <a:extLst>
              <a:ext uri="{FF2B5EF4-FFF2-40B4-BE49-F238E27FC236}">
                <a16:creationId xmlns:a16="http://schemas.microsoft.com/office/drawing/2014/main" id="{B13ACB55-5763-43AF-AC2D-AC57F1D10A4A}"/>
              </a:ext>
            </a:extLst>
          </p:cNvPr>
          <p:cNvSpPr>
            <a:spLocks noGrp="1"/>
          </p:cNvSpPr>
          <p:nvPr>
            <p:ph idx="1"/>
          </p:nvPr>
        </p:nvSpPr>
        <p:spPr/>
        <p:txBody>
          <a:bodyPr>
            <a:normAutofit/>
          </a:bodyPr>
          <a:lstStyle/>
          <a:p>
            <a:pPr marL="0" indent="0" algn="just">
              <a:buNone/>
            </a:pPr>
            <a:r>
              <a:rPr lang="en-US" dirty="0"/>
              <a:t>With a CMS, we always know what is happening with any given component of the content. The workflow scheme keeps track of each data element, its check-in and check-out history, as well as its version history. That allows those checking on the status of an article to know whether it has been accessed, is being edited, has been submitted for copy editing, has been returned to the author for re-work, or has been accepted in its final form. In addition, the version history tracks which version of the article has appeared in which publications. Different versions remain accessible forever. The workflow scheme can also generate custom reports to provide status information in a variety of formats. It allows the publisher to control (or at least track) the content and process.</a:t>
            </a:r>
          </a:p>
        </p:txBody>
      </p:sp>
      <p:sp>
        <p:nvSpPr>
          <p:cNvPr id="4" name="Footer Placeholder 3">
            <a:extLst>
              <a:ext uri="{FF2B5EF4-FFF2-40B4-BE49-F238E27FC236}">
                <a16:creationId xmlns:a16="http://schemas.microsoft.com/office/drawing/2014/main" id="{414865D0-7B49-489B-AFFD-174D651EE57F}"/>
              </a:ext>
            </a:extLst>
          </p:cNvPr>
          <p:cNvSpPr>
            <a:spLocks noGrp="1"/>
          </p:cNvSpPr>
          <p:nvPr>
            <p:ph type="ftr" sz="quarter" idx="11"/>
          </p:nvPr>
        </p:nvSpPr>
        <p:spPr>
          <a:xfrm>
            <a:off x="989044" y="6356350"/>
            <a:ext cx="10364756" cy="501650"/>
          </a:xfrm>
        </p:spPr>
        <p:txBody>
          <a:bodyPr/>
          <a:lstStyle/>
          <a:p>
            <a:pPr algn="l"/>
            <a:r>
              <a:rPr lang="en-US" dirty="0"/>
              <a:t>https://quod.lib.umich.edu/j/jep/3336451.0003.408?view=text;rgn=main#:~:text=The%20major%20components%20of%20a,editorial%20tools%2C%20and%20output%20utilities.</a:t>
            </a:r>
          </a:p>
        </p:txBody>
      </p:sp>
    </p:spTree>
    <p:extLst>
      <p:ext uri="{BB962C8B-B14F-4D97-AF65-F5344CB8AC3E}">
        <p14:creationId xmlns:p14="http://schemas.microsoft.com/office/powerpoint/2010/main" val="2900234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05AC9-B72C-4440-A534-55230475154B}"/>
              </a:ext>
            </a:extLst>
          </p:cNvPr>
          <p:cNvSpPr>
            <a:spLocks noGrp="1"/>
          </p:cNvSpPr>
          <p:nvPr>
            <p:ph type="title"/>
          </p:nvPr>
        </p:nvSpPr>
        <p:spPr/>
        <p:txBody>
          <a:bodyPr/>
          <a:lstStyle/>
          <a:p>
            <a:pPr algn="l"/>
            <a:r>
              <a:rPr lang="en-US" dirty="0"/>
              <a:t>Output utilities</a:t>
            </a:r>
          </a:p>
        </p:txBody>
      </p:sp>
      <p:sp>
        <p:nvSpPr>
          <p:cNvPr id="3" name="Content Placeholder 2">
            <a:extLst>
              <a:ext uri="{FF2B5EF4-FFF2-40B4-BE49-F238E27FC236}">
                <a16:creationId xmlns:a16="http://schemas.microsoft.com/office/drawing/2014/main" id="{AA8B2927-63FE-49F6-9011-6C60AC1A3271}"/>
              </a:ext>
            </a:extLst>
          </p:cNvPr>
          <p:cNvSpPr>
            <a:spLocks noGrp="1"/>
          </p:cNvSpPr>
          <p:nvPr>
            <p:ph idx="1"/>
          </p:nvPr>
        </p:nvSpPr>
        <p:spPr/>
        <p:txBody>
          <a:bodyPr>
            <a:normAutofit/>
          </a:bodyPr>
          <a:lstStyle/>
          <a:p>
            <a:pPr marL="0" indent="0" algn="just">
              <a:buNone/>
            </a:pPr>
            <a:r>
              <a:rPr lang="en-US" dirty="0"/>
              <a:t>The output utilities are filters that take information in the data repository and format it for various publishing media. For instance, a filter may generate the CD-ROM version of the content in its final form, but may generate a print version in a partially tagged form to be sent to a typesetter for pagination. Some would argue that the output utilities are the most important part of a CMS. Others skip over them as an afterthought. The reality is that even after getting the data in shape and providing access to it and control of it, without well-developed output utilities the content is not going anywhere. It is a misconception that once data is "media neutral" and in a data repository, the job is done. Clearly, the job is easier. However, not only is it not done, it is truly just beginning.</a:t>
            </a:r>
          </a:p>
        </p:txBody>
      </p:sp>
      <p:sp>
        <p:nvSpPr>
          <p:cNvPr id="4" name="Footer Placeholder 3">
            <a:extLst>
              <a:ext uri="{FF2B5EF4-FFF2-40B4-BE49-F238E27FC236}">
                <a16:creationId xmlns:a16="http://schemas.microsoft.com/office/drawing/2014/main" id="{F69F4041-7B99-4A70-910A-7E9B59A349F0}"/>
              </a:ext>
            </a:extLst>
          </p:cNvPr>
          <p:cNvSpPr>
            <a:spLocks noGrp="1"/>
          </p:cNvSpPr>
          <p:nvPr>
            <p:ph type="ftr" sz="quarter" idx="11"/>
          </p:nvPr>
        </p:nvSpPr>
        <p:spPr>
          <a:xfrm>
            <a:off x="838200" y="6356351"/>
            <a:ext cx="10515600" cy="324368"/>
          </a:xfrm>
        </p:spPr>
        <p:txBody>
          <a:bodyPr/>
          <a:lstStyle/>
          <a:p>
            <a:pPr algn="l"/>
            <a:r>
              <a:rPr lang="en-US" dirty="0"/>
              <a:t>https://quod.lib.umich.edu/j/jep/3336451.0003.408?view=text;rgn=main#:~:text=The%20major%20components%20of%20a,editorial%20tools%2C%20and%20output%20utilities.</a:t>
            </a:r>
          </a:p>
        </p:txBody>
      </p:sp>
    </p:spTree>
    <p:extLst>
      <p:ext uri="{BB962C8B-B14F-4D97-AF65-F5344CB8AC3E}">
        <p14:creationId xmlns:p14="http://schemas.microsoft.com/office/powerpoint/2010/main" val="28529880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455F51"/>
      </a:dk2>
      <a:lt2>
        <a:srgbClr val="E3DED1"/>
      </a:lt2>
      <a:accent1>
        <a:srgbClr val="99CB38"/>
      </a:accent1>
      <a:accent2>
        <a:srgbClr val="63A537"/>
      </a:accent2>
      <a:accent3>
        <a:srgbClr val="E6D024"/>
      </a:accent3>
      <a:accent4>
        <a:srgbClr val="CC9700"/>
      </a:accent4>
      <a:accent5>
        <a:srgbClr val="4EB3CF"/>
      </a:accent5>
      <a:accent6>
        <a:srgbClr val="378DA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29F68FFC-748B-4FC3-BF39-7F84A6D584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45</TotalTime>
  <Words>1626</Words>
  <Application>Microsoft Office PowerPoint</Application>
  <PresentationFormat>Widescreen</PresentationFormat>
  <Paragraphs>69</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Calibri</vt:lpstr>
      <vt:lpstr>Tw Cen MT</vt:lpstr>
      <vt:lpstr>Tw Cen MT Condensed</vt:lpstr>
      <vt:lpstr>Wingdings 3</vt:lpstr>
      <vt:lpstr>Integral</vt:lpstr>
      <vt:lpstr>ITP219</vt:lpstr>
      <vt:lpstr>How does CMS work?</vt:lpstr>
      <vt:lpstr>Types of CMS</vt:lpstr>
      <vt:lpstr>Types of CMS</vt:lpstr>
      <vt:lpstr>Types of CMS</vt:lpstr>
      <vt:lpstr>Types of CMS</vt:lpstr>
      <vt:lpstr>Types of CMS</vt:lpstr>
      <vt:lpstr>Types of CMS</vt:lpstr>
      <vt:lpstr>Difference between headless and decoupled CMS</vt:lpstr>
      <vt:lpstr>Components of a CMS</vt:lpstr>
      <vt:lpstr>What are the different components of a CMS?</vt:lpstr>
      <vt:lpstr>Data repository</vt:lpstr>
      <vt:lpstr>User interface</vt:lpstr>
      <vt:lpstr>Editorial tools</vt:lpstr>
      <vt:lpstr>Workflow scheme</vt:lpstr>
      <vt:lpstr>Output utilities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ITP219</dc:title>
  <dc:creator>Sunny Lopez</dc:creator>
  <cp:lastModifiedBy>Sunny Lopez</cp:lastModifiedBy>
  <cp:revision>27</cp:revision>
  <dcterms:created xsi:type="dcterms:W3CDTF">2024-08-11T23:47:52Z</dcterms:created>
  <dcterms:modified xsi:type="dcterms:W3CDTF">2024-08-26T13:28:19Z</dcterms:modified>
</cp:coreProperties>
</file>