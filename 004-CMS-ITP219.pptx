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5"/>
  </p:notesMasterIdLst>
  <p:sldIdLst>
    <p:sldId id="256" r:id="rId2"/>
    <p:sldId id="257" r:id="rId3"/>
    <p:sldId id="258" r:id="rId4"/>
    <p:sldId id="259" r:id="rId5"/>
    <p:sldId id="261" r:id="rId6"/>
    <p:sldId id="267" r:id="rId7"/>
    <p:sldId id="262" r:id="rId8"/>
    <p:sldId id="264" r:id="rId9"/>
    <p:sldId id="265" r:id="rId10"/>
    <p:sldId id="266" r:id="rId11"/>
    <p:sldId id="268" r:id="rId12"/>
    <p:sldId id="281" r:id="rId13"/>
    <p:sldId id="269" r:id="rId14"/>
    <p:sldId id="270" r:id="rId15"/>
    <p:sldId id="271" r:id="rId16"/>
    <p:sldId id="272" r:id="rId17"/>
    <p:sldId id="274" r:id="rId18"/>
    <p:sldId id="275" r:id="rId19"/>
    <p:sldId id="277" r:id="rId20"/>
    <p:sldId id="279" r:id="rId21"/>
    <p:sldId id="278" r:id="rId22"/>
    <p:sldId id="280" r:id="rId23"/>
    <p:sldId id="26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235" autoAdjust="0"/>
  </p:normalViewPr>
  <p:slideViewPr>
    <p:cSldViewPr snapToGrid="0" showGuides="1">
      <p:cViewPr varScale="1">
        <p:scale>
          <a:sx n="79" d="100"/>
          <a:sy n="79" d="100"/>
        </p:scale>
        <p:origin x="82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CCA1-0206-4C1D-8FBE-86A23A74177B}"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FDB4D-3397-4AA1-8D41-D9AD934B9B18}" type="slidenum">
              <a:rPr lang="en-US" smtClean="0"/>
              <a:t>‹#›</a:t>
            </a:fld>
            <a:endParaRPr lang="en-US"/>
          </a:p>
        </p:txBody>
      </p:sp>
    </p:spTree>
    <p:extLst>
      <p:ext uri="{BB962C8B-B14F-4D97-AF65-F5344CB8AC3E}">
        <p14:creationId xmlns:p14="http://schemas.microsoft.com/office/powerpoint/2010/main" val="166525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063643D-8225-4F8C-BFF8-7176355E8E39}"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49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A810AF-B02B-40F7-B5DD-ABA697D23FD4}"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40834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AE84F92-1261-40D3-BECE-5835445D8F52}"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2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FEE61-7D9C-43E3-A238-39CD016EC32B}" type="datetime1">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2883360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76E5C-37F1-464C-9A14-6B7507BA541B}" type="datetime1">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97015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766F6-3E6C-4C81-90FD-E9629BB9934D}" type="datetime1">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170108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C8E9D-D5A2-40EF-BC93-DFAED5D9D2E6}" type="datetime1">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586365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ADD9D5-CBD3-4DEB-8BEC-2AE65EA3D268}" type="datetime1">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13803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BC6E84-C897-4226-918D-928DB6D1B8A4}" type="datetime1">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F23CED-E8B2-4C87-9FAC-E88E7AD8180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01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87322-9529-4649-8C81-2A65251FCFA6}"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spTree>
    <p:extLst>
      <p:ext uri="{BB962C8B-B14F-4D97-AF65-F5344CB8AC3E}">
        <p14:creationId xmlns:p14="http://schemas.microsoft.com/office/powerpoint/2010/main" val="300489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B2D477-07A8-477B-8D07-61CCC236A38A}"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F23CED-E8B2-4C87-9FAC-E88E7AD8180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A5BEEE-4335-4DF4-AD26-2272FBA491A1}" type="datetime1">
              <a:rPr lang="en-US" smtClean="0"/>
              <a:t>9/9/2024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AF23CED-E8B2-4C87-9FAC-E88E7AD8180A}"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83911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63A5-3690-451A-A791-38751893C286}"/>
              </a:ext>
            </a:extLst>
          </p:cNvPr>
          <p:cNvSpPr>
            <a:spLocks noGrp="1"/>
          </p:cNvSpPr>
          <p:nvPr>
            <p:ph type="ctrTitle"/>
          </p:nvPr>
        </p:nvSpPr>
        <p:spPr/>
        <p:txBody>
          <a:bodyPr/>
          <a:lstStyle/>
          <a:p>
            <a:r>
              <a:rPr lang="en-US" dirty="0"/>
              <a:t>ITP219</a:t>
            </a:r>
          </a:p>
        </p:txBody>
      </p:sp>
      <p:sp>
        <p:nvSpPr>
          <p:cNvPr id="3" name="Subtitle 2">
            <a:extLst>
              <a:ext uri="{FF2B5EF4-FFF2-40B4-BE49-F238E27FC236}">
                <a16:creationId xmlns:a16="http://schemas.microsoft.com/office/drawing/2014/main" id="{1258704A-3D89-4CB1-B536-1B269A9478AD}"/>
              </a:ext>
            </a:extLst>
          </p:cNvPr>
          <p:cNvSpPr>
            <a:spLocks noGrp="1"/>
          </p:cNvSpPr>
          <p:nvPr>
            <p:ph type="subTitle" idx="1"/>
          </p:nvPr>
        </p:nvSpPr>
        <p:spPr/>
        <p:txBody>
          <a:bodyPr/>
          <a:lstStyle/>
          <a:p>
            <a:r>
              <a:rPr lang="en-US" dirty="0"/>
              <a:t>CONTENT MANAGEMENT SYSTEM | WEEK 4</a:t>
            </a:r>
          </a:p>
        </p:txBody>
      </p:sp>
      <p:sp>
        <p:nvSpPr>
          <p:cNvPr id="4" name="Footer Placeholder 3">
            <a:extLst>
              <a:ext uri="{FF2B5EF4-FFF2-40B4-BE49-F238E27FC236}">
                <a16:creationId xmlns:a16="http://schemas.microsoft.com/office/drawing/2014/main" id="{38C4FE9A-307E-4243-915C-91BE0E3227F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251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88FD-17BA-4340-99AB-81E4D5E79EFA}"/>
              </a:ext>
            </a:extLst>
          </p:cNvPr>
          <p:cNvSpPr>
            <a:spLocks noGrp="1"/>
          </p:cNvSpPr>
          <p:nvPr>
            <p:ph type="title"/>
          </p:nvPr>
        </p:nvSpPr>
        <p:spPr/>
        <p:txBody>
          <a:bodyPr/>
          <a:lstStyle/>
          <a:p>
            <a:r>
              <a:rPr lang="en-US" dirty="0"/>
              <a:t>DATABASE DESIGN OF A CMS WEBSITE</a:t>
            </a:r>
          </a:p>
        </p:txBody>
      </p:sp>
      <p:sp>
        <p:nvSpPr>
          <p:cNvPr id="3" name="Content Placeholder 2">
            <a:extLst>
              <a:ext uri="{FF2B5EF4-FFF2-40B4-BE49-F238E27FC236}">
                <a16:creationId xmlns:a16="http://schemas.microsoft.com/office/drawing/2014/main" id="{79D89B81-708D-4DA5-B9C2-6316F895058A}"/>
              </a:ext>
            </a:extLst>
          </p:cNvPr>
          <p:cNvSpPr>
            <a:spLocks noGrp="1"/>
          </p:cNvSpPr>
          <p:nvPr>
            <p:ph idx="1"/>
          </p:nvPr>
        </p:nvSpPr>
        <p:spPr/>
        <p:txBody>
          <a:bodyPr/>
          <a:lstStyle/>
          <a:p>
            <a:pPr algn="just"/>
            <a:r>
              <a:rPr lang="en-US" dirty="0"/>
              <a:t>The Content Management System (CMS) allows setting and </a:t>
            </a:r>
            <a:r>
              <a:rPr lang="en-US" b="1" dirty="0"/>
              <a:t>managing user </a:t>
            </a:r>
            <a:r>
              <a:rPr lang="en-US" dirty="0"/>
              <a:t>access with the help of the role-based access control feature and this way users can </a:t>
            </a:r>
            <a:r>
              <a:rPr lang="en-US" b="1" dirty="0"/>
              <a:t>register </a:t>
            </a:r>
            <a:r>
              <a:rPr lang="en-US" dirty="0"/>
              <a:t>themselves, </a:t>
            </a:r>
            <a:r>
              <a:rPr lang="en-US" b="1" dirty="0"/>
              <a:t>login</a:t>
            </a:r>
            <a:r>
              <a:rPr lang="en-US" dirty="0"/>
              <a:t>, and access features </a:t>
            </a:r>
            <a:r>
              <a:rPr lang="en-US" b="1" dirty="0"/>
              <a:t>depending </a:t>
            </a:r>
            <a:r>
              <a:rPr lang="en-US" dirty="0"/>
              <a:t>on their </a:t>
            </a:r>
            <a:r>
              <a:rPr lang="en-US" b="1" dirty="0"/>
              <a:t>roles</a:t>
            </a:r>
            <a:r>
              <a:rPr lang="en-US" dirty="0"/>
              <a:t>.</a:t>
            </a:r>
          </a:p>
          <a:p>
            <a:pPr algn="just"/>
            <a:r>
              <a:rPr lang="en-US" dirty="0"/>
              <a:t>The functionality of </a:t>
            </a:r>
            <a:r>
              <a:rPr lang="en-US" b="1" dirty="0"/>
              <a:t>content building</a:t>
            </a:r>
            <a:r>
              <a:rPr lang="en-US" dirty="0"/>
              <a:t> and dealing lets users generate various content types, like </a:t>
            </a:r>
            <a:r>
              <a:rPr lang="en-US" b="1" dirty="0"/>
              <a:t>articles blogs</a:t>
            </a:r>
            <a:r>
              <a:rPr lang="en-US" dirty="0"/>
              <a:t>, and so on, using </a:t>
            </a:r>
            <a:r>
              <a:rPr lang="en-US" b="1" dirty="0"/>
              <a:t>titles</a:t>
            </a:r>
            <a:r>
              <a:rPr lang="en-US" dirty="0"/>
              <a:t>, </a:t>
            </a:r>
            <a:r>
              <a:rPr lang="en-US" b="1" dirty="0"/>
              <a:t>descriptions</a:t>
            </a:r>
            <a:r>
              <a:rPr lang="en-US" dirty="0"/>
              <a:t>, and </a:t>
            </a:r>
            <a:r>
              <a:rPr lang="en-US" b="1" dirty="0"/>
              <a:t>options </a:t>
            </a:r>
            <a:r>
              <a:rPr lang="en-US" dirty="0"/>
              <a:t>to be informative such as </a:t>
            </a:r>
            <a:r>
              <a:rPr lang="en-US" b="1" dirty="0"/>
              <a:t>tags </a:t>
            </a:r>
            <a:r>
              <a:rPr lang="en-US" dirty="0"/>
              <a:t>and </a:t>
            </a:r>
            <a:r>
              <a:rPr lang="en-US" b="1" dirty="0"/>
              <a:t>categories </a:t>
            </a:r>
            <a:r>
              <a:rPr lang="en-US" dirty="0"/>
              <a:t>for the organization. The consumers can interact with the content via </a:t>
            </a:r>
            <a:r>
              <a:rPr lang="en-US" b="1" dirty="0"/>
              <a:t>comments </a:t>
            </a:r>
            <a:r>
              <a:rPr lang="en-US" dirty="0"/>
              <a:t>and </a:t>
            </a:r>
            <a:r>
              <a:rPr lang="en-US" b="1" dirty="0"/>
              <a:t>likes</a:t>
            </a:r>
            <a:r>
              <a:rPr lang="en-US" dirty="0"/>
              <a:t>.</a:t>
            </a:r>
          </a:p>
        </p:txBody>
      </p:sp>
      <p:sp>
        <p:nvSpPr>
          <p:cNvPr id="4" name="Footer Placeholder 3">
            <a:extLst>
              <a:ext uri="{FF2B5EF4-FFF2-40B4-BE49-F238E27FC236}">
                <a16:creationId xmlns:a16="http://schemas.microsoft.com/office/drawing/2014/main" id="{DD0C498E-D8BE-41D7-8481-BADEE9B83771}"/>
              </a:ext>
            </a:extLst>
          </p:cNvPr>
          <p:cNvSpPr>
            <a:spLocks noGrp="1"/>
          </p:cNvSpPr>
          <p:nvPr>
            <p:ph type="ftr" sz="quarter" idx="11"/>
          </p:nvPr>
        </p:nvSpPr>
        <p:spPr>
          <a:xfrm>
            <a:off x="1024128" y="6470704"/>
            <a:ext cx="9720263" cy="206822"/>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3663301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DATABASE DESIGN OF A CMS WEBSITE </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algn="just"/>
            <a:r>
              <a:rPr lang="en-US" dirty="0"/>
              <a:t>First of all, it is imperative to analyze the target database and subsequently, to figure out the CMS requirements. These requirements typically include:</a:t>
            </a:r>
          </a:p>
          <a:p>
            <a:pPr algn="just" fontAlgn="base"/>
            <a:r>
              <a:rPr lang="en-US" b="1" dirty="0"/>
              <a:t>User Management:</a:t>
            </a:r>
            <a:r>
              <a:rPr lang="en-US" dirty="0"/>
              <a:t> Let users sign up, providing their username, email address, and password, which should be unique. Set in place the role-based access control (RBAC) that will enable you to determine who can access or perform certain authorization levels based on their roles.</a:t>
            </a:r>
          </a:p>
          <a:p>
            <a:pPr algn="just" fontAlgn="base"/>
            <a:r>
              <a:rPr lang="en-US" b="1" dirty="0"/>
              <a:t>Content Creation and Management:</a:t>
            </a:r>
            <a:r>
              <a:rPr lang="en-US" dirty="0"/>
              <a:t> Give the users the possibility to deal with multiple types of content involving: articles, blogs, etc. Arouse admins to give titles, descriptions, assignee categories and tags to classify and organize the content properly.</a:t>
            </a:r>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18854"/>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348283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DATABASE DESIGN OF A CMS WEBSITE </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algn="just" fontAlgn="base"/>
            <a:r>
              <a:rPr lang="en-US" b="1" dirty="0"/>
              <a:t>Content Organization:</a:t>
            </a:r>
            <a:r>
              <a:rPr lang="en-US" dirty="0"/>
              <a:t> Let users organize content in several categories to improve navigation and reconstruction. Integrating a tag function into content will provide better organization and searchability for content creators.</a:t>
            </a:r>
          </a:p>
          <a:p>
            <a:pPr algn="just" fontAlgn="base"/>
            <a:r>
              <a:rPr lang="en-US" b="1" dirty="0"/>
              <a:t>Commenting System: </a:t>
            </a:r>
            <a:r>
              <a:rPr lang="en-US" dirty="0"/>
              <a:t>Guarantee creating opportunities for users to share their thoughts on content plus comments in that case they can be more engaged and provide their feedback. Implementing moderate features will help to manage and moderate the comments, approving, deleting, and flagging improper words.</a:t>
            </a:r>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947861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DATABASE DESIGN OF A CMS WEBSITE </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algn="just" fontAlgn="base"/>
            <a:r>
              <a:rPr lang="en-US" b="1" dirty="0"/>
              <a:t>Customization and Personalization: </a:t>
            </a:r>
            <a:r>
              <a:rPr lang="en-US" dirty="0"/>
              <a:t>Let people upload their profile pictures, and modify their preferences, likes or dislikes, and notification settings. Provide personalized content recommendations tailored to the interests and viewing history of every user, using different metrics to determine engagement. Provide the administrators with an opportunity to configure the look of the CMS to fit the companies’ style and taste.</a:t>
            </a:r>
          </a:p>
          <a:p>
            <a:pPr algn="just" fontAlgn="base"/>
            <a:r>
              <a:rPr lang="en-US" b="1" dirty="0"/>
              <a:t>Content Publishing Workflow: </a:t>
            </a:r>
            <a:r>
              <a:rPr lang="en-US" dirty="0"/>
              <a:t>Implement business processes for content creation including work-flow schedules for review and approval platforms, especially in shared setting. Content writers can predefine post dates and workflows of content to be published at a certain time.</a:t>
            </a:r>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950332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92CC44-4DC3-4D61-AA87-3C348C52882F}"/>
              </a:ext>
            </a:extLst>
          </p:cNvPr>
          <p:cNvSpPr>
            <a:spLocks noGrp="1"/>
          </p:cNvSpPr>
          <p:nvPr>
            <p:ph type="ctrTitle"/>
          </p:nvPr>
        </p:nvSpPr>
        <p:spPr/>
        <p:txBody>
          <a:bodyPr/>
          <a:lstStyle/>
          <a:p>
            <a:r>
              <a:rPr lang="en-US" dirty="0"/>
              <a:t>Entities and attributes for CMS</a:t>
            </a:r>
          </a:p>
        </p:txBody>
      </p:sp>
      <p:sp>
        <p:nvSpPr>
          <p:cNvPr id="6" name="Subtitle 5">
            <a:extLst>
              <a:ext uri="{FF2B5EF4-FFF2-40B4-BE49-F238E27FC236}">
                <a16:creationId xmlns:a16="http://schemas.microsoft.com/office/drawing/2014/main" id="{8EDDB1C5-7A63-470F-98AC-C918E0FB3671}"/>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CFF08570-46B5-438F-92A1-7DBD9E95496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73849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Entities and attributes for CMS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1. User: Represents users of the CMS.</a:t>
            </a:r>
          </a:p>
          <a:p>
            <a:pPr fontAlgn="base"/>
            <a:r>
              <a:rPr lang="en-US" b="1" dirty="0" err="1"/>
              <a:t>UserID</a:t>
            </a:r>
            <a:r>
              <a:rPr lang="en-US" b="1" dirty="0"/>
              <a:t> (Primary Key): </a:t>
            </a:r>
            <a:r>
              <a:rPr lang="en-US" dirty="0"/>
              <a:t>Unique identifier for each user.</a:t>
            </a:r>
          </a:p>
          <a:p>
            <a:pPr fontAlgn="base"/>
            <a:r>
              <a:rPr lang="en-US" b="1" dirty="0"/>
              <a:t>Username: </a:t>
            </a:r>
            <a:r>
              <a:rPr lang="en-US" dirty="0"/>
              <a:t>Username of the user.</a:t>
            </a:r>
          </a:p>
          <a:p>
            <a:pPr fontAlgn="base"/>
            <a:r>
              <a:rPr lang="en-US" b="1" dirty="0"/>
              <a:t>Email: </a:t>
            </a:r>
            <a:r>
              <a:rPr lang="en-US" dirty="0"/>
              <a:t>Email of the user.</a:t>
            </a:r>
          </a:p>
          <a:p>
            <a:pPr fontAlgn="base"/>
            <a:r>
              <a:rPr lang="en-US" b="1" dirty="0"/>
              <a:t>Password: </a:t>
            </a:r>
            <a:r>
              <a:rPr lang="en-US" dirty="0"/>
              <a:t>Password of the user.</a:t>
            </a:r>
          </a:p>
          <a:p>
            <a:pPr fontAlgn="base"/>
            <a:r>
              <a:rPr lang="en-US" b="1" dirty="0" err="1"/>
              <a:t>RoleID</a:t>
            </a:r>
            <a:r>
              <a:rPr lang="en-US" b="1" dirty="0"/>
              <a:t> (Foreign Key): </a:t>
            </a:r>
            <a:r>
              <a:rPr lang="en-US" dirty="0"/>
              <a:t>Reference to the role.</a:t>
            </a:r>
          </a:p>
          <a:p>
            <a:pPr fontAlgn="base"/>
            <a:endParaRPr lang="en-US" b="1" dirty="0"/>
          </a:p>
          <a:p>
            <a:pPr algn="just"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63226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Entities and attributes for CMS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2. Role: Defines different roles within the system.</a:t>
            </a:r>
          </a:p>
          <a:p>
            <a:pPr fontAlgn="base"/>
            <a:r>
              <a:rPr lang="en-US" b="1" dirty="0" err="1"/>
              <a:t>RoleID</a:t>
            </a:r>
            <a:r>
              <a:rPr lang="en-US" b="1" dirty="0"/>
              <a:t> (Primary Key): </a:t>
            </a:r>
            <a:r>
              <a:rPr lang="en-US" dirty="0"/>
              <a:t>Unique identifier for each role.</a:t>
            </a:r>
          </a:p>
          <a:p>
            <a:pPr fontAlgn="base"/>
            <a:r>
              <a:rPr lang="en-US" b="1" dirty="0" err="1"/>
              <a:t>RoleName</a:t>
            </a:r>
            <a:r>
              <a:rPr lang="en-US" b="1" dirty="0"/>
              <a:t>: </a:t>
            </a:r>
            <a:r>
              <a:rPr lang="en-US" dirty="0"/>
              <a:t>Name of the role.</a:t>
            </a:r>
          </a:p>
          <a:p>
            <a:pPr marL="0" indent="0" fontAlgn="base">
              <a:buNone/>
            </a:pPr>
            <a:r>
              <a:rPr lang="en-US" b="1"/>
              <a:t>3. Content: Abstract entity representing various types of content.</a:t>
            </a:r>
          </a:p>
          <a:p>
            <a:pPr fontAlgn="base"/>
            <a:r>
              <a:rPr lang="en-US" b="1"/>
              <a:t>ContentID (Primary Key): </a:t>
            </a:r>
            <a:r>
              <a:rPr lang="en-US"/>
              <a:t>Unique identifier for each content.</a:t>
            </a:r>
          </a:p>
          <a:p>
            <a:pPr fontAlgn="base"/>
            <a:r>
              <a:rPr lang="en-US" b="1"/>
              <a:t>ContentType: </a:t>
            </a:r>
            <a:r>
              <a:rPr lang="en-US"/>
              <a:t>Type of the content like article, blog, etc.</a:t>
            </a:r>
          </a:p>
          <a:p>
            <a:pPr fontAlgn="base"/>
            <a:r>
              <a:rPr lang="en-US" b="1"/>
              <a:t>Title: </a:t>
            </a:r>
            <a:r>
              <a:rPr lang="en-US"/>
              <a:t>Title of the content.</a:t>
            </a:r>
          </a:p>
          <a:p>
            <a:pPr fontAlgn="base"/>
            <a:r>
              <a:rPr lang="en-US" b="1"/>
              <a:t>ContentDescription: </a:t>
            </a:r>
            <a:r>
              <a:rPr lang="en-US"/>
              <a:t>Description of the content.</a:t>
            </a:r>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766924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Entities and attributes for CMS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4. Category: Represents categories to which content can be assigned.</a:t>
            </a:r>
          </a:p>
          <a:p>
            <a:pPr fontAlgn="base"/>
            <a:r>
              <a:rPr lang="en-US" b="1" dirty="0" err="1"/>
              <a:t>CategoryID</a:t>
            </a:r>
            <a:r>
              <a:rPr lang="en-US" b="1" dirty="0"/>
              <a:t> (Primary Key): </a:t>
            </a:r>
            <a:r>
              <a:rPr lang="en-US" dirty="0"/>
              <a:t>Unique identifier for each category.</a:t>
            </a:r>
          </a:p>
          <a:p>
            <a:pPr fontAlgn="base"/>
            <a:r>
              <a:rPr lang="en-US" b="1" dirty="0" err="1"/>
              <a:t>CategoryName</a:t>
            </a:r>
            <a:r>
              <a:rPr lang="en-US" b="1" dirty="0"/>
              <a:t>: </a:t>
            </a:r>
            <a:r>
              <a:rPr lang="en-US" dirty="0"/>
              <a:t>Name of the category.</a:t>
            </a:r>
          </a:p>
          <a:p>
            <a:pPr fontAlgn="base"/>
            <a:r>
              <a:rPr lang="en-US" b="1" dirty="0"/>
              <a:t>5. Tag: Represents tags associated with content.</a:t>
            </a:r>
          </a:p>
          <a:p>
            <a:pPr fontAlgn="base"/>
            <a:r>
              <a:rPr lang="en-US" b="1" dirty="0" err="1"/>
              <a:t>TagID</a:t>
            </a:r>
            <a:r>
              <a:rPr lang="en-US" b="1" dirty="0"/>
              <a:t> (Primary Key): </a:t>
            </a:r>
            <a:r>
              <a:rPr lang="en-US" dirty="0"/>
              <a:t>Unique identifier for each tag.</a:t>
            </a:r>
          </a:p>
          <a:p>
            <a:pPr fontAlgn="base"/>
            <a:r>
              <a:rPr lang="en-US" b="1" dirty="0" err="1"/>
              <a:t>TagName</a:t>
            </a:r>
            <a:r>
              <a:rPr lang="en-US" b="1" dirty="0"/>
              <a:t>: </a:t>
            </a:r>
            <a:r>
              <a:rPr lang="en-US" dirty="0"/>
              <a:t>Name of the tag.</a:t>
            </a:r>
          </a:p>
          <a:p>
            <a:pPr marL="0" indent="0" fontAlgn="base">
              <a:buNone/>
            </a:pPr>
            <a:endParaRPr lang="en-US" dirty="0"/>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349920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Entities and attributes for CMS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6. Comment Entity: Comments given by users.</a:t>
            </a:r>
          </a:p>
          <a:p>
            <a:pPr fontAlgn="base"/>
            <a:r>
              <a:rPr lang="en-US" b="1" dirty="0" err="1"/>
              <a:t>CommentID</a:t>
            </a:r>
            <a:r>
              <a:rPr lang="en-US" b="1" dirty="0"/>
              <a:t> (Primary Key): </a:t>
            </a:r>
            <a:r>
              <a:rPr lang="en-US" dirty="0"/>
              <a:t>Unique identifier for each comment.</a:t>
            </a:r>
          </a:p>
          <a:p>
            <a:pPr fontAlgn="base"/>
            <a:r>
              <a:rPr lang="en-US" b="1" dirty="0" err="1"/>
              <a:t>ContentID</a:t>
            </a:r>
            <a:r>
              <a:rPr lang="en-US" b="1" dirty="0"/>
              <a:t> (Foreign Key): </a:t>
            </a:r>
            <a:r>
              <a:rPr lang="en-US" dirty="0"/>
              <a:t>Reference to the content.</a:t>
            </a:r>
          </a:p>
          <a:p>
            <a:pPr fontAlgn="base"/>
            <a:r>
              <a:rPr lang="en-US" b="1" dirty="0" err="1"/>
              <a:t>UserID</a:t>
            </a:r>
            <a:r>
              <a:rPr lang="en-US" b="1" dirty="0"/>
              <a:t> (Foreign Key): </a:t>
            </a:r>
            <a:r>
              <a:rPr lang="en-US" dirty="0"/>
              <a:t>Reference to the user.</a:t>
            </a:r>
          </a:p>
          <a:p>
            <a:pPr fontAlgn="base"/>
            <a:r>
              <a:rPr lang="en-US" b="1" dirty="0" err="1"/>
              <a:t>CommentText</a:t>
            </a:r>
            <a:r>
              <a:rPr lang="en-US" b="1" dirty="0"/>
              <a:t>: </a:t>
            </a:r>
            <a:r>
              <a:rPr lang="en-US" dirty="0"/>
              <a:t>Text of the comment.</a:t>
            </a:r>
          </a:p>
          <a:p>
            <a:pPr fontAlgn="base"/>
            <a:r>
              <a:rPr lang="en-US" b="1" dirty="0" err="1"/>
              <a:t>CommentDate</a:t>
            </a:r>
            <a:r>
              <a:rPr lang="en-US" b="1" dirty="0"/>
              <a:t>:</a:t>
            </a:r>
            <a:r>
              <a:rPr lang="en-US" dirty="0"/>
              <a:t> Date of the comment.</a:t>
            </a:r>
          </a:p>
          <a:p>
            <a:pPr marL="0" indent="0" fontAlgn="base">
              <a:buNone/>
            </a:pPr>
            <a:endParaRPr lang="en-US" dirty="0"/>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503430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92CC44-4DC3-4D61-AA87-3C348C52882F}"/>
              </a:ext>
            </a:extLst>
          </p:cNvPr>
          <p:cNvSpPr>
            <a:spLocks noGrp="1"/>
          </p:cNvSpPr>
          <p:nvPr>
            <p:ph type="ctrTitle"/>
          </p:nvPr>
        </p:nvSpPr>
        <p:spPr/>
        <p:txBody>
          <a:bodyPr/>
          <a:lstStyle/>
          <a:p>
            <a:r>
              <a:rPr lang="en-US" dirty="0"/>
              <a:t>Relationship between entities</a:t>
            </a:r>
          </a:p>
        </p:txBody>
      </p:sp>
      <p:sp>
        <p:nvSpPr>
          <p:cNvPr id="6" name="Subtitle 5">
            <a:extLst>
              <a:ext uri="{FF2B5EF4-FFF2-40B4-BE49-F238E27FC236}">
                <a16:creationId xmlns:a16="http://schemas.microsoft.com/office/drawing/2014/main" id="{8EDDB1C5-7A63-470F-98AC-C918E0FB3671}"/>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CFF08570-46B5-438F-92A1-7DBD9E95496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624595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1. User – Role Relationship:</a:t>
            </a:r>
          </a:p>
          <a:p>
            <a:pPr fontAlgn="base"/>
            <a:r>
              <a:rPr lang="en-US" dirty="0"/>
              <a:t>Each user in CMS has multiple roles. (one-to-many)</a:t>
            </a:r>
          </a:p>
          <a:p>
            <a:pPr fontAlgn="base"/>
            <a:r>
              <a:rPr lang="en-US" dirty="0"/>
              <a:t>Multiple roles are assigned to one user through </a:t>
            </a:r>
            <a:r>
              <a:rPr lang="en-US" dirty="0" err="1"/>
              <a:t>RoleID</a:t>
            </a:r>
            <a:r>
              <a:rPr lang="en-US" dirty="0"/>
              <a:t> foreign key in the User table.</a:t>
            </a:r>
          </a:p>
          <a:p>
            <a:pPr fontAlgn="base"/>
            <a:r>
              <a:rPr lang="en-US" dirty="0"/>
              <a:t>This relationship allows users to have specific permissions and access levels based on their roles within the system. So this is one-to-may relationship.</a:t>
            </a:r>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2545356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2. Content – User Relationship:</a:t>
            </a:r>
          </a:p>
          <a:p>
            <a:pPr fontAlgn="base"/>
            <a:r>
              <a:rPr lang="en-US" dirty="0"/>
              <a:t>Each piece of content (e.g., article, blogs) in the CMS is authored by a user.</a:t>
            </a:r>
            <a:r>
              <a:rPr lang="en-US" b="1" dirty="0"/>
              <a:t> (one-to-many)</a:t>
            </a:r>
            <a:endParaRPr lang="en-US" dirty="0"/>
          </a:p>
          <a:p>
            <a:pPr fontAlgn="base"/>
            <a:r>
              <a:rPr lang="en-US" dirty="0"/>
              <a:t>This relationship links the content to its author, facilitating attribution and tracking of content ownership.</a:t>
            </a:r>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654152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3. Content – Category Relationship:</a:t>
            </a:r>
          </a:p>
          <a:p>
            <a:pPr fontAlgn="base"/>
            <a:r>
              <a:rPr lang="en-US" dirty="0"/>
              <a:t>Each content can belong to multiple categories.</a:t>
            </a:r>
            <a:r>
              <a:rPr lang="en-US" b="1" dirty="0"/>
              <a:t>(many-to-many)</a:t>
            </a:r>
            <a:endParaRPr lang="en-US" dirty="0"/>
          </a:p>
          <a:p>
            <a:pPr fontAlgn="base"/>
            <a:r>
              <a:rPr lang="en-US" dirty="0"/>
              <a:t>Each category can have multiple content associated with it.</a:t>
            </a:r>
          </a:p>
          <a:p>
            <a:pPr fontAlgn="base"/>
            <a:r>
              <a:rPr lang="en-US" dirty="0"/>
              <a:t>This relationship allows for organizing and classifying content into various categories for easier navigation and retrieval.</a:t>
            </a:r>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883676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4. Content – Tag Relationship:</a:t>
            </a:r>
          </a:p>
          <a:p>
            <a:pPr fontAlgn="base"/>
            <a:r>
              <a:rPr lang="en-US" dirty="0"/>
              <a:t>Each piece of content can have multiple tags.</a:t>
            </a:r>
            <a:r>
              <a:rPr lang="en-US" b="1" dirty="0"/>
              <a:t>(many-to-many)</a:t>
            </a:r>
            <a:endParaRPr lang="en-US" dirty="0"/>
          </a:p>
          <a:p>
            <a:pPr fontAlgn="base"/>
            <a:r>
              <a:rPr lang="en-US" dirty="0"/>
              <a:t>Each tag can be associated with multiple pieces of content.</a:t>
            </a:r>
          </a:p>
          <a:p>
            <a:pPr fontAlgn="base"/>
            <a:r>
              <a:rPr lang="en-US" dirty="0"/>
              <a:t>This relationship facilitates content organization and improves searchability within the CMS.</a:t>
            </a:r>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1247625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5. Comment – User Relationship:</a:t>
            </a:r>
          </a:p>
          <a:p>
            <a:pPr fontAlgn="base"/>
            <a:r>
              <a:rPr lang="en-US" dirty="0"/>
              <a:t>A single user can made multiple comments.</a:t>
            </a:r>
            <a:r>
              <a:rPr lang="en-US" b="1" dirty="0"/>
              <a:t>(many-to-one)</a:t>
            </a:r>
            <a:endParaRPr lang="en-US" dirty="0"/>
          </a:p>
          <a:p>
            <a:pPr fontAlgn="base"/>
            <a:r>
              <a:rPr lang="en-US" dirty="0"/>
              <a:t>This relationship allows for tracking comments made by users within the CMS.</a:t>
            </a:r>
          </a:p>
          <a:p>
            <a:pPr fontAlgn="base"/>
            <a:endParaRPr lang="en-US" dirty="0"/>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4164784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Relationship between entities</a:t>
            </a:r>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p:txBody>
          <a:bodyPr/>
          <a:lstStyle/>
          <a:p>
            <a:pPr fontAlgn="base"/>
            <a:r>
              <a:rPr lang="en-US" b="1" dirty="0"/>
              <a:t>6. Comment – Content Relationship:</a:t>
            </a:r>
          </a:p>
          <a:p>
            <a:pPr fontAlgn="base"/>
            <a:r>
              <a:rPr lang="en-US" dirty="0"/>
              <a:t>Each comment is associated with a specific piece of content.</a:t>
            </a:r>
            <a:r>
              <a:rPr lang="en-US" b="1" dirty="0"/>
              <a:t>(many-to-many)</a:t>
            </a:r>
            <a:endParaRPr lang="en-US" dirty="0"/>
          </a:p>
          <a:p>
            <a:pPr fontAlgn="base"/>
            <a:r>
              <a:rPr lang="en-US" dirty="0"/>
              <a:t>This relationship allows for organizing comments based on the content they are related to within the CMS.</a:t>
            </a:r>
          </a:p>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2596665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92CC44-4DC3-4D61-AA87-3C348C52882F}"/>
              </a:ext>
            </a:extLst>
          </p:cNvPr>
          <p:cNvSpPr>
            <a:spLocks noGrp="1"/>
          </p:cNvSpPr>
          <p:nvPr>
            <p:ph type="ctrTitle"/>
          </p:nvPr>
        </p:nvSpPr>
        <p:spPr/>
        <p:txBody>
          <a:bodyPr/>
          <a:lstStyle/>
          <a:p>
            <a:r>
              <a:rPr lang="en-US" dirty="0"/>
              <a:t>Entities structures in </a:t>
            </a:r>
            <a:r>
              <a:rPr lang="en-US" dirty="0" err="1"/>
              <a:t>sql</a:t>
            </a:r>
            <a:r>
              <a:rPr lang="en-US" dirty="0"/>
              <a:t> format</a:t>
            </a:r>
          </a:p>
        </p:txBody>
      </p:sp>
      <p:sp>
        <p:nvSpPr>
          <p:cNvPr id="6" name="Subtitle 5">
            <a:extLst>
              <a:ext uri="{FF2B5EF4-FFF2-40B4-BE49-F238E27FC236}">
                <a16:creationId xmlns:a16="http://schemas.microsoft.com/office/drawing/2014/main" id="{8EDDB1C5-7A63-470F-98AC-C918E0FB3671}"/>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CFF08570-46B5-438F-92A1-7DBD9E95496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9273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58EC159-F74F-46B3-B871-189BA66F8EA5}"/>
              </a:ext>
            </a:extLst>
          </p:cNvPr>
          <p:cNvPicPr>
            <a:picLocks noChangeAspect="1"/>
          </p:cNvPicPr>
          <p:nvPr/>
        </p:nvPicPr>
        <p:blipFill>
          <a:blip r:embed="rId2"/>
          <a:stretch>
            <a:fillRect/>
          </a:stretch>
        </p:blipFill>
        <p:spPr>
          <a:xfrm>
            <a:off x="1024128" y="132347"/>
            <a:ext cx="9720072" cy="6764975"/>
          </a:xfrm>
          <a:prstGeom prst="rect">
            <a:avLst/>
          </a:prstGeom>
        </p:spPr>
      </p:pic>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a:xfrm>
            <a:off x="1024128" y="2286000"/>
            <a:ext cx="9720073" cy="4023360"/>
          </a:xfrm>
        </p:spPr>
        <p:txBody>
          <a:bodyPr/>
          <a:lstStyle/>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Tree>
    <p:extLst>
      <p:ext uri="{BB962C8B-B14F-4D97-AF65-F5344CB8AC3E}">
        <p14:creationId xmlns:p14="http://schemas.microsoft.com/office/powerpoint/2010/main" val="3162547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92CC44-4DC3-4D61-AA87-3C348C52882F}"/>
              </a:ext>
            </a:extLst>
          </p:cNvPr>
          <p:cNvSpPr>
            <a:spLocks noGrp="1"/>
          </p:cNvSpPr>
          <p:nvPr>
            <p:ph type="ctrTitle"/>
          </p:nvPr>
        </p:nvSpPr>
        <p:spPr/>
        <p:txBody>
          <a:bodyPr/>
          <a:lstStyle/>
          <a:p>
            <a:r>
              <a:rPr lang="en-US" dirty="0"/>
              <a:t>DATABSAE MODEL FOR CMS</a:t>
            </a:r>
          </a:p>
        </p:txBody>
      </p:sp>
      <p:sp>
        <p:nvSpPr>
          <p:cNvPr id="6" name="Subtitle 5">
            <a:extLst>
              <a:ext uri="{FF2B5EF4-FFF2-40B4-BE49-F238E27FC236}">
                <a16:creationId xmlns:a16="http://schemas.microsoft.com/office/drawing/2014/main" id="{8EDDB1C5-7A63-470F-98AC-C918E0FB3671}"/>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CFF08570-46B5-438F-92A1-7DBD9E95496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60050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FAB1-489D-40C1-BBD9-E9A3FE68E674}"/>
              </a:ext>
            </a:extLst>
          </p:cNvPr>
          <p:cNvSpPr>
            <a:spLocks noGrp="1"/>
          </p:cNvSpPr>
          <p:nvPr>
            <p:ph type="title"/>
          </p:nvPr>
        </p:nvSpPr>
        <p:spPr/>
        <p:txBody>
          <a:bodyPr/>
          <a:lstStyle/>
          <a:p>
            <a:r>
              <a:rPr lang="en-US" dirty="0"/>
              <a:t>Database model for </a:t>
            </a:r>
            <a:r>
              <a:rPr lang="en-US" dirty="0" err="1"/>
              <a:t>cms</a:t>
            </a:r>
            <a:endParaRPr lang="en-US" dirty="0"/>
          </a:p>
        </p:txBody>
      </p:sp>
      <p:sp>
        <p:nvSpPr>
          <p:cNvPr id="3" name="Content Placeholder 2">
            <a:extLst>
              <a:ext uri="{FF2B5EF4-FFF2-40B4-BE49-F238E27FC236}">
                <a16:creationId xmlns:a16="http://schemas.microsoft.com/office/drawing/2014/main" id="{9DBCB657-8786-48CE-8ADC-D68E593A7A55}"/>
              </a:ext>
            </a:extLst>
          </p:cNvPr>
          <p:cNvSpPr>
            <a:spLocks noGrp="1"/>
          </p:cNvSpPr>
          <p:nvPr>
            <p:ph idx="1"/>
          </p:nvPr>
        </p:nvSpPr>
        <p:spPr>
          <a:xfrm>
            <a:off x="1024128" y="2286000"/>
            <a:ext cx="9720073" cy="4023360"/>
          </a:xfrm>
        </p:spPr>
        <p:txBody>
          <a:bodyPr/>
          <a:lstStyle/>
          <a:p>
            <a:pPr marL="0" indent="0" algn="just">
              <a:buNone/>
            </a:pPr>
            <a:endParaRPr lang="en-US" dirty="0"/>
          </a:p>
        </p:txBody>
      </p:sp>
      <p:sp>
        <p:nvSpPr>
          <p:cNvPr id="4" name="Footer Placeholder 3">
            <a:extLst>
              <a:ext uri="{FF2B5EF4-FFF2-40B4-BE49-F238E27FC236}">
                <a16:creationId xmlns:a16="http://schemas.microsoft.com/office/drawing/2014/main" id="{4929E914-B6B9-4901-9422-FD97949FD65E}"/>
              </a:ext>
            </a:extLst>
          </p:cNvPr>
          <p:cNvSpPr>
            <a:spLocks noGrp="1"/>
          </p:cNvSpPr>
          <p:nvPr>
            <p:ph type="ftr" sz="quarter" idx="11"/>
          </p:nvPr>
        </p:nvSpPr>
        <p:spPr>
          <a:xfrm>
            <a:off x="1024128" y="6470704"/>
            <a:ext cx="9720263" cy="254949"/>
          </a:xfrm>
        </p:spPr>
        <p:txBody>
          <a:bodyPr/>
          <a:lstStyle/>
          <a:p>
            <a:pPr algn="l"/>
            <a:r>
              <a:rPr lang="en-US" dirty="0"/>
              <a:t>https://www.geeksforgeeks.org/how-to-design-a-database-for-content-management-system-cms/</a:t>
            </a:r>
          </a:p>
        </p:txBody>
      </p:sp>
      <p:sp>
        <p:nvSpPr>
          <p:cNvPr id="5" name="AutoShape 2" descr="Lightbox">
            <a:extLst>
              <a:ext uri="{FF2B5EF4-FFF2-40B4-BE49-F238E27FC236}">
                <a16:creationId xmlns:a16="http://schemas.microsoft.com/office/drawing/2014/main" id="{C13BB1C1-6A6A-49C2-BC98-E47B2E4524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0" name="Object 9">
            <a:extLst>
              <a:ext uri="{FF2B5EF4-FFF2-40B4-BE49-F238E27FC236}">
                <a16:creationId xmlns:a16="http://schemas.microsoft.com/office/drawing/2014/main" id="{EB77F900-43A1-4C91-8210-5F2851025E08}"/>
              </a:ext>
            </a:extLst>
          </p:cNvPr>
          <p:cNvGraphicFramePr>
            <a:graphicFrameLocks noChangeAspect="1"/>
          </p:cNvGraphicFramePr>
          <p:nvPr>
            <p:extLst>
              <p:ext uri="{D42A27DB-BD31-4B8C-83A1-F6EECF244321}">
                <p14:modId xmlns:p14="http://schemas.microsoft.com/office/powerpoint/2010/main" val="716673804"/>
              </p:ext>
            </p:extLst>
          </p:nvPr>
        </p:nvGraphicFramePr>
        <p:xfrm>
          <a:off x="2353779" y="2312220"/>
          <a:ext cx="7484441" cy="3997140"/>
        </p:xfrm>
        <a:graphic>
          <a:graphicData uri="http://schemas.openxmlformats.org/presentationml/2006/ole">
            <mc:AlternateContent xmlns:mc="http://schemas.openxmlformats.org/markup-compatibility/2006">
              <mc:Choice xmlns:v="urn:schemas-microsoft-com:vml" Requires="v">
                <p:oleObj name="Image" r:id="rId2" imgW="13968000" imgH="7390440" progId="Photoshop.Image.13">
                  <p:embed/>
                </p:oleObj>
              </mc:Choice>
              <mc:Fallback>
                <p:oleObj name="Image" r:id="rId2" imgW="13968000" imgH="7390440" progId="Photoshop.Image.13">
                  <p:embed/>
                  <p:pic>
                    <p:nvPicPr>
                      <p:cNvPr id="0" name=""/>
                      <p:cNvPicPr/>
                      <p:nvPr/>
                    </p:nvPicPr>
                    <p:blipFill>
                      <a:blip r:embed="rId3"/>
                      <a:stretch>
                        <a:fillRect/>
                      </a:stretch>
                    </p:blipFill>
                    <p:spPr>
                      <a:xfrm>
                        <a:off x="2353779" y="2312220"/>
                        <a:ext cx="7484441" cy="3997140"/>
                      </a:xfrm>
                      <a:prstGeom prst="rect">
                        <a:avLst/>
                      </a:prstGeom>
                    </p:spPr>
                  </p:pic>
                </p:oleObj>
              </mc:Fallback>
            </mc:AlternateContent>
          </a:graphicData>
        </a:graphic>
      </p:graphicFrame>
    </p:spTree>
    <p:extLst>
      <p:ext uri="{BB962C8B-B14F-4D97-AF65-F5344CB8AC3E}">
        <p14:creationId xmlns:p14="http://schemas.microsoft.com/office/powerpoint/2010/main" val="757100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A899D-3E9C-456C-84F6-172CAC0543B2}"/>
              </a:ext>
            </a:extLst>
          </p:cNvPr>
          <p:cNvSpPr>
            <a:spLocks noGrp="1"/>
          </p:cNvSpPr>
          <p:nvPr>
            <p:ph type="title"/>
          </p:nvPr>
        </p:nvSpPr>
        <p:spPr/>
        <p:txBody>
          <a:bodyPr/>
          <a:lstStyle/>
          <a:p>
            <a:r>
              <a:rPr lang="en-US" dirty="0"/>
              <a:t>EXERCISE ½ crosswise</a:t>
            </a:r>
          </a:p>
        </p:txBody>
      </p:sp>
      <p:sp>
        <p:nvSpPr>
          <p:cNvPr id="3" name="Content Placeholder 2">
            <a:extLst>
              <a:ext uri="{FF2B5EF4-FFF2-40B4-BE49-F238E27FC236}">
                <a16:creationId xmlns:a16="http://schemas.microsoft.com/office/drawing/2014/main" id="{CF7D1DE0-52E9-4BA6-A7E8-4BD53360B7D7}"/>
              </a:ext>
            </a:extLst>
          </p:cNvPr>
          <p:cNvSpPr>
            <a:spLocks noGrp="1"/>
          </p:cNvSpPr>
          <p:nvPr>
            <p:ph idx="1"/>
          </p:nvPr>
        </p:nvSpPr>
        <p:spPr/>
        <p:txBody>
          <a:bodyPr/>
          <a:lstStyle/>
          <a:p>
            <a:r>
              <a:rPr lang="en-US" dirty="0"/>
              <a:t>1. Create a database design for your own CMS.</a:t>
            </a:r>
          </a:p>
          <a:p>
            <a:r>
              <a:rPr lang="en-US" dirty="0"/>
              <a:t>2. It should contain posts and roles as well as users and categories.</a:t>
            </a:r>
          </a:p>
          <a:p>
            <a:r>
              <a:rPr lang="en-US" dirty="0"/>
              <a:t>3. Use an ER diagram to design your database.</a:t>
            </a:r>
          </a:p>
          <a:p>
            <a:pPr marL="0" indent="0">
              <a:buNone/>
            </a:pPr>
            <a:endParaRPr lang="en-US" dirty="0"/>
          </a:p>
        </p:txBody>
      </p:sp>
      <p:sp>
        <p:nvSpPr>
          <p:cNvPr id="4" name="Footer Placeholder 3">
            <a:extLst>
              <a:ext uri="{FF2B5EF4-FFF2-40B4-BE49-F238E27FC236}">
                <a16:creationId xmlns:a16="http://schemas.microsoft.com/office/drawing/2014/main" id="{6E40F3BA-8E85-4F3D-8673-6D13229387F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27593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D79C8-D808-4443-BA3F-FE79853C1270}"/>
              </a:ext>
            </a:extLst>
          </p:cNvPr>
          <p:cNvSpPr>
            <a:spLocks noGrp="1"/>
          </p:cNvSpPr>
          <p:nvPr>
            <p:ph type="title"/>
          </p:nvPr>
        </p:nvSpPr>
        <p:spPr/>
        <p:txBody>
          <a:bodyPr/>
          <a:lstStyle/>
          <a:p>
            <a:pPr algn="ctr"/>
            <a:r>
              <a:rPr lang="en-US" dirty="0"/>
              <a:t>END</a:t>
            </a:r>
          </a:p>
        </p:txBody>
      </p:sp>
      <p:sp>
        <p:nvSpPr>
          <p:cNvPr id="3" name="Content Placeholder 2">
            <a:extLst>
              <a:ext uri="{FF2B5EF4-FFF2-40B4-BE49-F238E27FC236}">
                <a16:creationId xmlns:a16="http://schemas.microsoft.com/office/drawing/2014/main" id="{4E2E0C4D-6513-4315-970C-6367A9F5113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B581D0F-9512-4E1D-BD5E-39AE334FCAF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912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167</TotalTime>
  <Words>1206</Words>
  <Application>Microsoft Office PowerPoint</Application>
  <PresentationFormat>Widescreen</PresentationFormat>
  <Paragraphs>101</Paragraphs>
  <Slides>23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Calibri</vt:lpstr>
      <vt:lpstr>Tw Cen MT</vt:lpstr>
      <vt:lpstr>Tw Cen MT Condensed</vt:lpstr>
      <vt:lpstr>Wingdings 3</vt:lpstr>
      <vt:lpstr>Integral</vt:lpstr>
      <vt:lpstr>Image</vt:lpstr>
      <vt:lpstr>ITP219</vt:lpstr>
      <vt:lpstr>DATABASE DESIGN OF A CMS WEBSITE</vt:lpstr>
      <vt:lpstr>DATABASE DESIGN OF A CMS WEBSITE </vt:lpstr>
      <vt:lpstr>DATABASE DESIGN OF A CMS WEBSITE </vt:lpstr>
      <vt:lpstr>DATABASE DESIGN OF A CMS WEBSITE </vt:lpstr>
      <vt:lpstr>Entities and attributes for CMS</vt:lpstr>
      <vt:lpstr>Entities and attributes for CMS</vt:lpstr>
      <vt:lpstr>Entities and attributes for CMS</vt:lpstr>
      <vt:lpstr>Entities and attributes for CMS</vt:lpstr>
      <vt:lpstr>Entities and attributes for CMS</vt:lpstr>
      <vt:lpstr>Relationship between entities</vt:lpstr>
      <vt:lpstr>Relationship between entities</vt:lpstr>
      <vt:lpstr>Relationship between entities</vt:lpstr>
      <vt:lpstr>Relationship between entities</vt:lpstr>
      <vt:lpstr>Relationship between entities</vt:lpstr>
      <vt:lpstr>Relationship between entities</vt:lpstr>
      <vt:lpstr>Relationship between entities</vt:lpstr>
      <vt:lpstr>Entities structures in sql format</vt:lpstr>
      <vt:lpstr>PowerPoint Presentation</vt:lpstr>
      <vt:lpstr>DATABSAE MODEL FOR CMS</vt:lpstr>
      <vt:lpstr>Database model for cms</vt:lpstr>
      <vt:lpstr>EXERCISE ½ crosswise</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ITP219</dc:title>
  <dc:creator>Sunny Lopez</dc:creator>
  <cp:lastModifiedBy>Sunny Lopez</cp:lastModifiedBy>
  <cp:revision>85</cp:revision>
  <dcterms:created xsi:type="dcterms:W3CDTF">2024-08-11T23:47:52Z</dcterms:created>
  <dcterms:modified xsi:type="dcterms:W3CDTF">2024-09-09T02:43:33Z</dcterms:modified>
</cp:coreProperties>
</file>