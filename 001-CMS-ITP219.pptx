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2" d="100"/>
          <a:sy n="52" d="100"/>
        </p:scale>
        <p:origin x="71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CCA1-0206-4C1D-8FBE-86A23A74177B}" type="datetimeFigureOut">
              <a:rPr lang="en-US" smtClean="0"/>
              <a:t>8/26/2024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FDB4D-3397-4AA1-8D41-D9AD934B9B18}" type="slidenum">
              <a:rPr lang="en-US" smtClean="0"/>
              <a:t>‹#›</a:t>
            </a:fld>
            <a:endParaRPr lang="en-US"/>
          </a:p>
        </p:txBody>
      </p:sp>
    </p:spTree>
    <p:extLst>
      <p:ext uri="{BB962C8B-B14F-4D97-AF65-F5344CB8AC3E}">
        <p14:creationId xmlns:p14="http://schemas.microsoft.com/office/powerpoint/2010/main" val="166525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DFDB4D-3397-4AA1-8D41-D9AD934B9B18}" type="slidenum">
              <a:rPr lang="en-US" smtClean="0"/>
              <a:t>10</a:t>
            </a:fld>
            <a:endParaRPr lang="en-US"/>
          </a:p>
        </p:txBody>
      </p:sp>
    </p:spTree>
    <p:extLst>
      <p:ext uri="{BB962C8B-B14F-4D97-AF65-F5344CB8AC3E}">
        <p14:creationId xmlns:p14="http://schemas.microsoft.com/office/powerpoint/2010/main" val="1766176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063643D-8225-4F8C-BFF8-7176355E8E39}"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34889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A810AF-B02B-40F7-B5DD-ABA697D23FD4}"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63576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E84F92-1261-40D3-BECE-5835445D8F52}"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63531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FEE61-7D9C-43E3-A238-39CD016EC32B}"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978185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76E5C-37F1-464C-9A14-6B7507BA541B}" type="datetime1">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971433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766F6-3E6C-4C81-90FD-E9629BB9934D}" type="datetime1">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104105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8E9D-D5A2-40EF-BC93-DFAED5D9D2E6}" type="datetime1">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572698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ADD9D5-CBD3-4DEB-8BEC-2AE65EA3D268}"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659058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BC6E84-C897-4226-918D-928DB6D1B8A4}"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9756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87322-9529-4649-8C81-2A65251FCFA6}"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98622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B2D477-07A8-477B-8D07-61CCC236A38A}"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63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A5BEEE-4335-4DF4-AD26-2272FBA491A1}" type="datetime1">
              <a:rPr lang="en-US" smtClean="0"/>
              <a:t>8/26/2024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23CED-E8B2-4C87-9FAC-E88E7AD8180A}"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3118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kinsta.com/knowledgebase/how-to-upload-html-file-to-wordpress/" TargetMode="External"/><Relationship Id="rId2" Type="http://schemas.openxmlformats.org/officeDocument/2006/relationships/hyperlink" Target="https://kinsta.com/knowledgebase/what-is-wordpres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63A5-3690-451A-A791-38751893C286}"/>
              </a:ext>
            </a:extLst>
          </p:cNvPr>
          <p:cNvSpPr>
            <a:spLocks noGrp="1"/>
          </p:cNvSpPr>
          <p:nvPr>
            <p:ph type="ctrTitle"/>
          </p:nvPr>
        </p:nvSpPr>
        <p:spPr/>
        <p:txBody>
          <a:bodyPr/>
          <a:lstStyle/>
          <a:p>
            <a:r>
              <a:rPr lang="en-US" dirty="0"/>
              <a:t>ITP219</a:t>
            </a:r>
          </a:p>
        </p:txBody>
      </p:sp>
      <p:sp>
        <p:nvSpPr>
          <p:cNvPr id="3" name="Subtitle 2">
            <a:extLst>
              <a:ext uri="{FF2B5EF4-FFF2-40B4-BE49-F238E27FC236}">
                <a16:creationId xmlns:a16="http://schemas.microsoft.com/office/drawing/2014/main" id="{1258704A-3D89-4CB1-B536-1B269A9478AD}"/>
              </a:ext>
            </a:extLst>
          </p:cNvPr>
          <p:cNvSpPr>
            <a:spLocks noGrp="1"/>
          </p:cNvSpPr>
          <p:nvPr>
            <p:ph type="subTitle" idx="1"/>
          </p:nvPr>
        </p:nvSpPr>
        <p:spPr/>
        <p:txBody>
          <a:bodyPr/>
          <a:lstStyle/>
          <a:p>
            <a:r>
              <a:rPr lang="en-US" dirty="0"/>
              <a:t>CONTENT MANAGEMENT SYSTEM | WEEK 1</a:t>
            </a:r>
          </a:p>
        </p:txBody>
      </p:sp>
      <p:sp>
        <p:nvSpPr>
          <p:cNvPr id="4" name="Footer Placeholder 3">
            <a:extLst>
              <a:ext uri="{FF2B5EF4-FFF2-40B4-BE49-F238E27FC236}">
                <a16:creationId xmlns:a16="http://schemas.microsoft.com/office/drawing/2014/main" id="{38C4FE9A-307E-4243-915C-91BE0E3227F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51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6399-EF5B-456A-A70D-0C539E786DF5}"/>
              </a:ext>
            </a:extLst>
          </p:cNvPr>
          <p:cNvSpPr>
            <a:spLocks noGrp="1"/>
          </p:cNvSpPr>
          <p:nvPr>
            <p:ph type="title"/>
          </p:nvPr>
        </p:nvSpPr>
        <p:spPr/>
        <p:txBody>
          <a:bodyPr/>
          <a:lstStyle/>
          <a:p>
            <a:r>
              <a:rPr lang="en-US" dirty="0"/>
              <a:t>What is Content Management System?</a:t>
            </a:r>
          </a:p>
        </p:txBody>
      </p:sp>
      <p:sp>
        <p:nvSpPr>
          <p:cNvPr id="3" name="Content Placeholder 2">
            <a:extLst>
              <a:ext uri="{FF2B5EF4-FFF2-40B4-BE49-F238E27FC236}">
                <a16:creationId xmlns:a16="http://schemas.microsoft.com/office/drawing/2014/main" id="{DCEAEBA1-7396-4E4C-B8E8-9D18327105C8}"/>
              </a:ext>
            </a:extLst>
          </p:cNvPr>
          <p:cNvSpPr>
            <a:spLocks noGrp="1"/>
          </p:cNvSpPr>
          <p:nvPr>
            <p:ph idx="1"/>
          </p:nvPr>
        </p:nvSpPr>
        <p:spPr/>
        <p:txBody>
          <a:bodyPr>
            <a:normAutofit/>
          </a:bodyPr>
          <a:lstStyle/>
          <a:p>
            <a:pPr marL="0" indent="0" algn="just">
              <a:buNone/>
            </a:pPr>
            <a:r>
              <a:rPr lang="en-US" sz="3500" dirty="0"/>
              <a:t>A content management system (CMS) is software that helps users create, manage, and modify content on a website without the need for technical knowledge. In other words, a CMS lets you build a website without needing to write code from scratch (or even know how to code at all).</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sz="2000" dirty="0"/>
          </a:p>
        </p:txBody>
      </p:sp>
      <p:sp>
        <p:nvSpPr>
          <p:cNvPr id="4" name="Footer Placeholder 3">
            <a:extLst>
              <a:ext uri="{FF2B5EF4-FFF2-40B4-BE49-F238E27FC236}">
                <a16:creationId xmlns:a16="http://schemas.microsoft.com/office/drawing/2014/main" id="{4C8C2A86-E518-491F-973F-9B3EEBC939F6}"/>
              </a:ext>
            </a:extLst>
          </p:cNvPr>
          <p:cNvSpPr>
            <a:spLocks noGrp="1"/>
          </p:cNvSpPr>
          <p:nvPr>
            <p:ph type="ftr" sz="quarter" idx="11"/>
          </p:nvPr>
        </p:nvSpPr>
        <p:spPr>
          <a:xfrm>
            <a:off x="838200" y="6356351"/>
            <a:ext cx="10515600" cy="324367"/>
          </a:xfrm>
        </p:spPr>
        <p:txBody>
          <a:bodyPr/>
          <a:lstStyle/>
          <a:p>
            <a:pPr algn="l"/>
            <a:r>
              <a:rPr lang="en-US" dirty="0"/>
              <a:t>https://kinsta.com/knowledgebase/content-management-system/</a:t>
            </a:r>
          </a:p>
          <a:p>
            <a:pPr algn="l"/>
            <a:endParaRPr lang="en-US" dirty="0"/>
          </a:p>
        </p:txBody>
      </p:sp>
    </p:spTree>
    <p:extLst>
      <p:ext uri="{BB962C8B-B14F-4D97-AF65-F5344CB8AC3E}">
        <p14:creationId xmlns:p14="http://schemas.microsoft.com/office/powerpoint/2010/main" val="2723381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3EF0-840C-4684-9637-B3FBBA0AA6C3}"/>
              </a:ext>
            </a:extLst>
          </p:cNvPr>
          <p:cNvSpPr>
            <a:spLocks noGrp="1"/>
          </p:cNvSpPr>
          <p:nvPr>
            <p:ph type="title"/>
          </p:nvPr>
        </p:nvSpPr>
        <p:spPr/>
        <p:txBody>
          <a:bodyPr/>
          <a:lstStyle/>
          <a:p>
            <a:r>
              <a:rPr lang="en-US" dirty="0"/>
              <a:t>What is Content Management System?</a:t>
            </a:r>
          </a:p>
        </p:txBody>
      </p:sp>
      <p:sp>
        <p:nvSpPr>
          <p:cNvPr id="3" name="Content Placeholder 2">
            <a:extLst>
              <a:ext uri="{FF2B5EF4-FFF2-40B4-BE49-F238E27FC236}">
                <a16:creationId xmlns:a16="http://schemas.microsoft.com/office/drawing/2014/main" id="{332E0F60-55C8-4002-BCDE-5092AA6C0193}"/>
              </a:ext>
            </a:extLst>
          </p:cNvPr>
          <p:cNvSpPr>
            <a:spLocks noGrp="1"/>
          </p:cNvSpPr>
          <p:nvPr>
            <p:ph idx="1"/>
          </p:nvPr>
        </p:nvSpPr>
        <p:spPr/>
        <p:txBody>
          <a:bodyPr>
            <a:normAutofit/>
          </a:bodyPr>
          <a:lstStyle/>
          <a:p>
            <a:pPr marL="0" indent="0" algn="just">
              <a:buNone/>
            </a:pPr>
            <a:r>
              <a:rPr lang="en-US" sz="3500" dirty="0"/>
              <a:t>A content management system (CMS) is a web application or software that manages digital content, allowing multiple contributors to create, edit and publish from a single dashboard. Content in a CMS is typically stored in a database and displayed in a presentation layer based on a set of templates like a website.</a:t>
            </a:r>
          </a:p>
          <a:p>
            <a:pPr marL="0" indent="0">
              <a:buNone/>
            </a:pPr>
            <a:endParaRPr lang="en-US" sz="3200" dirty="0"/>
          </a:p>
          <a:p>
            <a:pPr marL="0" indent="0">
              <a:buNone/>
            </a:pPr>
            <a:endParaRPr lang="en-US" sz="3200" dirty="0"/>
          </a:p>
          <a:p>
            <a:endParaRPr lang="en-US" dirty="0"/>
          </a:p>
        </p:txBody>
      </p:sp>
      <p:sp>
        <p:nvSpPr>
          <p:cNvPr id="4" name="Footer Placeholder 3">
            <a:extLst>
              <a:ext uri="{FF2B5EF4-FFF2-40B4-BE49-F238E27FC236}">
                <a16:creationId xmlns:a16="http://schemas.microsoft.com/office/drawing/2014/main" id="{DAA8F472-2E1A-4FB0-944D-999BC51BF192}"/>
              </a:ext>
            </a:extLst>
          </p:cNvPr>
          <p:cNvSpPr>
            <a:spLocks noGrp="1"/>
          </p:cNvSpPr>
          <p:nvPr>
            <p:ph type="ftr" sz="quarter" idx="11"/>
          </p:nvPr>
        </p:nvSpPr>
        <p:spPr>
          <a:xfrm>
            <a:off x="838200" y="6356350"/>
            <a:ext cx="10515600" cy="343029"/>
          </a:xfrm>
        </p:spPr>
        <p:txBody>
          <a:bodyPr/>
          <a:lstStyle/>
          <a:p>
            <a:pPr algn="l"/>
            <a:r>
              <a:rPr lang="en-US" dirty="0"/>
              <a:t>https://www.optimizely.com/optimization-glossary/content-management-system/</a:t>
            </a:r>
          </a:p>
          <a:p>
            <a:pPr algn="l"/>
            <a:endParaRPr lang="en-US" dirty="0"/>
          </a:p>
        </p:txBody>
      </p:sp>
    </p:spTree>
    <p:extLst>
      <p:ext uri="{BB962C8B-B14F-4D97-AF65-F5344CB8AC3E}">
        <p14:creationId xmlns:p14="http://schemas.microsoft.com/office/powerpoint/2010/main" val="562658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80F6-0911-4E0F-BC48-90B7D2725A3D}"/>
              </a:ext>
            </a:extLst>
          </p:cNvPr>
          <p:cNvSpPr>
            <a:spLocks noGrp="1"/>
          </p:cNvSpPr>
          <p:nvPr>
            <p:ph type="title"/>
          </p:nvPr>
        </p:nvSpPr>
        <p:spPr/>
        <p:txBody>
          <a:bodyPr/>
          <a:lstStyle/>
          <a:p>
            <a:r>
              <a:rPr lang="en-US" dirty="0"/>
              <a:t>How does a CMS work?</a:t>
            </a:r>
          </a:p>
        </p:txBody>
      </p:sp>
      <p:sp>
        <p:nvSpPr>
          <p:cNvPr id="3" name="Content Placeholder 2">
            <a:extLst>
              <a:ext uri="{FF2B5EF4-FFF2-40B4-BE49-F238E27FC236}">
                <a16:creationId xmlns:a16="http://schemas.microsoft.com/office/drawing/2014/main" id="{9871306E-53CE-4F76-A7C6-D408EC862CE7}"/>
              </a:ext>
            </a:extLst>
          </p:cNvPr>
          <p:cNvSpPr>
            <a:spLocks noGrp="1"/>
          </p:cNvSpPr>
          <p:nvPr>
            <p:ph idx="1"/>
          </p:nvPr>
        </p:nvSpPr>
        <p:spPr/>
        <p:txBody>
          <a:bodyPr>
            <a:normAutofit/>
          </a:bodyPr>
          <a:lstStyle/>
          <a:p>
            <a:pPr marL="0" indent="0" algn="just">
              <a:buNone/>
            </a:pPr>
            <a:r>
              <a:rPr lang="en-US" dirty="0"/>
              <a:t>To give you an idea of how a content management system works, we’re going to take a whirlwind tour of the </a:t>
            </a:r>
            <a:r>
              <a:rPr lang="en-US" dirty="0">
                <a:hlinkClick r:id="rId2"/>
              </a:rPr>
              <a:t>WordPress</a:t>
            </a:r>
            <a:r>
              <a:rPr lang="en-US" dirty="0"/>
              <a:t> (a good example of a CMS) interface.</a:t>
            </a:r>
          </a:p>
          <a:p>
            <a:pPr marL="0" indent="0">
              <a:buNone/>
            </a:pPr>
            <a:endParaRPr lang="en-US" dirty="0"/>
          </a:p>
          <a:p>
            <a:pPr marL="0" indent="0" algn="just">
              <a:buNone/>
            </a:pPr>
            <a:r>
              <a:rPr lang="en-US" dirty="0"/>
              <a:t>Let’s start with creating a piece of content. </a:t>
            </a:r>
            <a:r>
              <a:rPr lang="en-US" b="1" dirty="0"/>
              <a:t>Without </a:t>
            </a:r>
            <a:r>
              <a:rPr lang="en-US" dirty="0"/>
              <a:t>a content management system, you’d need to write a static </a:t>
            </a:r>
            <a:r>
              <a:rPr lang="en-US" dirty="0">
                <a:hlinkClick r:id="rId3"/>
              </a:rPr>
              <a:t>HTML file and upload it to your server</a:t>
            </a:r>
            <a:r>
              <a:rPr lang="en-US" dirty="0"/>
              <a:t> (</a:t>
            </a:r>
            <a:r>
              <a:rPr lang="en-US" i="1" dirty="0"/>
              <a:t>sounds complicated, right?</a:t>
            </a:r>
            <a:r>
              <a:rPr lang="en-US" dirty="0"/>
              <a:t>).</a:t>
            </a:r>
          </a:p>
          <a:p>
            <a:pPr marL="0" indent="0">
              <a:buNone/>
            </a:pPr>
            <a:endParaRPr lang="en-US" b="1" dirty="0"/>
          </a:p>
          <a:p>
            <a:pPr marL="0" indent="0" algn="just">
              <a:buNone/>
            </a:pPr>
            <a:r>
              <a:rPr lang="en-US" b="1" dirty="0"/>
              <a:t>With </a:t>
            </a:r>
            <a:r>
              <a:rPr lang="en-US" dirty="0"/>
              <a:t>a content management system like WordPress, you can just write your content in an interface that looks a good bit like Microsoft Word:</a:t>
            </a:r>
          </a:p>
          <a:p>
            <a:endParaRPr lang="en-US" dirty="0"/>
          </a:p>
        </p:txBody>
      </p:sp>
      <p:sp>
        <p:nvSpPr>
          <p:cNvPr id="5" name="Footer Placeholder 3">
            <a:extLst>
              <a:ext uri="{FF2B5EF4-FFF2-40B4-BE49-F238E27FC236}">
                <a16:creationId xmlns:a16="http://schemas.microsoft.com/office/drawing/2014/main" id="{2096650D-09C6-4753-93D6-7AF2D460D2F2}"/>
              </a:ext>
            </a:extLst>
          </p:cNvPr>
          <p:cNvSpPr>
            <a:spLocks noGrp="1"/>
          </p:cNvSpPr>
          <p:nvPr>
            <p:ph type="ftr" sz="quarter" idx="11"/>
          </p:nvPr>
        </p:nvSpPr>
        <p:spPr>
          <a:xfrm>
            <a:off x="838200" y="6356351"/>
            <a:ext cx="10515600" cy="324367"/>
          </a:xfrm>
        </p:spPr>
        <p:txBody>
          <a:bodyPr/>
          <a:lstStyle/>
          <a:p>
            <a:pPr algn="l"/>
            <a:r>
              <a:rPr lang="en-US" dirty="0"/>
              <a:t>https://kinsta.com/knowledgebase/content-management-system/</a:t>
            </a:r>
          </a:p>
          <a:p>
            <a:pPr algn="l"/>
            <a:endParaRPr lang="en-US" dirty="0"/>
          </a:p>
        </p:txBody>
      </p:sp>
    </p:spTree>
    <p:extLst>
      <p:ext uri="{BB962C8B-B14F-4D97-AF65-F5344CB8AC3E}">
        <p14:creationId xmlns:p14="http://schemas.microsoft.com/office/powerpoint/2010/main" val="3115956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AD4B1-3FFF-44AB-BCCA-4368FE29E816}"/>
              </a:ext>
            </a:extLst>
          </p:cNvPr>
          <p:cNvSpPr>
            <a:spLocks noGrp="1"/>
          </p:cNvSpPr>
          <p:nvPr>
            <p:ph type="title"/>
          </p:nvPr>
        </p:nvSpPr>
        <p:spPr/>
        <p:txBody>
          <a:bodyPr/>
          <a:lstStyle/>
          <a:p>
            <a:r>
              <a:rPr lang="en-US" dirty="0"/>
              <a:t>How does a CMS work?</a:t>
            </a:r>
          </a:p>
        </p:txBody>
      </p:sp>
      <p:sp>
        <p:nvSpPr>
          <p:cNvPr id="3" name="Content Placeholder 2">
            <a:extLst>
              <a:ext uri="{FF2B5EF4-FFF2-40B4-BE49-F238E27FC236}">
                <a16:creationId xmlns:a16="http://schemas.microsoft.com/office/drawing/2014/main" id="{FF3F32C5-63D2-48BF-A92B-254617E573BA}"/>
              </a:ext>
            </a:extLst>
          </p:cNvPr>
          <p:cNvSpPr>
            <a:spLocks noGrp="1"/>
          </p:cNvSpPr>
          <p:nvPr>
            <p:ph idx="1"/>
          </p:nvPr>
        </p:nvSpPr>
        <p:spPr/>
        <p:txBody>
          <a:bodyPr/>
          <a:lstStyle/>
          <a:p>
            <a:endParaRPr lang="en-US"/>
          </a:p>
        </p:txBody>
      </p:sp>
      <p:sp>
        <p:nvSpPr>
          <p:cNvPr id="6" name="Footer Placeholder 3">
            <a:extLst>
              <a:ext uri="{FF2B5EF4-FFF2-40B4-BE49-F238E27FC236}">
                <a16:creationId xmlns:a16="http://schemas.microsoft.com/office/drawing/2014/main" id="{99C0B41D-5960-4DC6-B671-B08C9B7BC47B}"/>
              </a:ext>
            </a:extLst>
          </p:cNvPr>
          <p:cNvSpPr>
            <a:spLocks noGrp="1"/>
          </p:cNvSpPr>
          <p:nvPr>
            <p:ph type="ftr" sz="quarter" idx="11"/>
          </p:nvPr>
        </p:nvSpPr>
        <p:spPr>
          <a:xfrm>
            <a:off x="838200" y="6356351"/>
            <a:ext cx="10515600" cy="324367"/>
          </a:xfrm>
        </p:spPr>
        <p:txBody>
          <a:bodyPr/>
          <a:lstStyle/>
          <a:p>
            <a:pPr algn="l"/>
            <a:r>
              <a:rPr lang="en-US" dirty="0"/>
              <a:t>https://kinsta.com/knowledgebase/content-management-system/</a:t>
            </a:r>
          </a:p>
          <a:p>
            <a:pPr algn="l"/>
            <a:endParaRPr lang="en-US" dirty="0"/>
          </a:p>
        </p:txBody>
      </p:sp>
      <p:pic>
        <p:nvPicPr>
          <p:cNvPr id="1026" name="Picture 2" descr="WordPress editor">
            <a:extLst>
              <a:ext uri="{FF2B5EF4-FFF2-40B4-BE49-F238E27FC236}">
                <a16:creationId xmlns:a16="http://schemas.microsoft.com/office/drawing/2014/main" id="{2A575876-98C7-495B-993A-263CFE216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764933"/>
            <a:ext cx="10515600" cy="4412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963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29FFF-E83C-4C7E-A1EF-93883FB64EF4}"/>
              </a:ext>
            </a:extLst>
          </p:cNvPr>
          <p:cNvSpPr>
            <a:spLocks noGrp="1"/>
          </p:cNvSpPr>
          <p:nvPr>
            <p:ph type="title"/>
          </p:nvPr>
        </p:nvSpPr>
        <p:spPr/>
        <p:txBody>
          <a:bodyPr/>
          <a:lstStyle/>
          <a:p>
            <a:r>
              <a:rPr lang="en-US" dirty="0"/>
              <a:t>What are the different features of a CMS?</a:t>
            </a:r>
          </a:p>
        </p:txBody>
      </p:sp>
      <p:sp>
        <p:nvSpPr>
          <p:cNvPr id="6" name="Content Placeholder 5">
            <a:extLst>
              <a:ext uri="{FF2B5EF4-FFF2-40B4-BE49-F238E27FC236}">
                <a16:creationId xmlns:a16="http://schemas.microsoft.com/office/drawing/2014/main" id="{F0D03A40-25A4-4C9F-B7E2-3086D4D392B6}"/>
              </a:ext>
            </a:extLst>
          </p:cNvPr>
          <p:cNvSpPr>
            <a:spLocks noGrp="1"/>
          </p:cNvSpPr>
          <p:nvPr>
            <p:ph sz="half" idx="1"/>
          </p:nvPr>
        </p:nvSpPr>
        <p:spPr/>
        <p:txBody>
          <a:bodyPr/>
          <a:lstStyle/>
          <a:p>
            <a:r>
              <a:rPr lang="en-US" dirty="0"/>
              <a:t>Intuitive dashboard</a:t>
            </a:r>
          </a:p>
          <a:p>
            <a:r>
              <a:rPr lang="en-US" dirty="0"/>
              <a:t>Responsive themes</a:t>
            </a:r>
          </a:p>
          <a:p>
            <a:r>
              <a:rPr lang="en-US" dirty="0"/>
              <a:t>Content editing and publishing tools</a:t>
            </a:r>
          </a:p>
          <a:p>
            <a:r>
              <a:rPr lang="en-US" dirty="0"/>
              <a:t>Version controls and backups</a:t>
            </a:r>
          </a:p>
          <a:p>
            <a:r>
              <a:rPr lang="en-US" dirty="0"/>
              <a:t>Built-in SEO tools</a:t>
            </a:r>
          </a:p>
          <a:p>
            <a:r>
              <a:rPr lang="en-US" dirty="0"/>
              <a:t>Robust integration</a:t>
            </a:r>
          </a:p>
        </p:txBody>
      </p:sp>
      <p:sp>
        <p:nvSpPr>
          <p:cNvPr id="8" name="Content Placeholder 7">
            <a:extLst>
              <a:ext uri="{FF2B5EF4-FFF2-40B4-BE49-F238E27FC236}">
                <a16:creationId xmlns:a16="http://schemas.microsoft.com/office/drawing/2014/main" id="{AB7C0BCC-48A8-4BFB-8193-777DC6C4CD56}"/>
              </a:ext>
            </a:extLst>
          </p:cNvPr>
          <p:cNvSpPr>
            <a:spLocks noGrp="1"/>
          </p:cNvSpPr>
          <p:nvPr>
            <p:ph sz="half" idx="2"/>
          </p:nvPr>
        </p:nvSpPr>
        <p:spPr/>
        <p:txBody>
          <a:bodyPr/>
          <a:lstStyle/>
          <a:p>
            <a:r>
              <a:rPr lang="en-US" dirty="0"/>
              <a:t>Premade templates</a:t>
            </a:r>
          </a:p>
          <a:p>
            <a:r>
              <a:rPr lang="en-US" dirty="0"/>
              <a:t>Content staging</a:t>
            </a:r>
          </a:p>
          <a:p>
            <a:r>
              <a:rPr lang="en-US" dirty="0"/>
              <a:t>Security</a:t>
            </a:r>
          </a:p>
        </p:txBody>
      </p:sp>
      <p:sp>
        <p:nvSpPr>
          <p:cNvPr id="4" name="Footer Placeholder 3">
            <a:extLst>
              <a:ext uri="{FF2B5EF4-FFF2-40B4-BE49-F238E27FC236}">
                <a16:creationId xmlns:a16="http://schemas.microsoft.com/office/drawing/2014/main" id="{5E4C51F1-296B-4C8E-AC7F-3D61B8F6A4F6}"/>
              </a:ext>
            </a:extLst>
          </p:cNvPr>
          <p:cNvSpPr>
            <a:spLocks noGrp="1"/>
          </p:cNvSpPr>
          <p:nvPr>
            <p:ph type="ftr" sz="quarter" idx="11"/>
          </p:nvPr>
        </p:nvSpPr>
        <p:spPr>
          <a:xfrm>
            <a:off x="838200" y="6356351"/>
            <a:ext cx="10515600" cy="324367"/>
          </a:xfrm>
        </p:spPr>
        <p:txBody>
          <a:bodyPr/>
          <a:lstStyle/>
          <a:p>
            <a:pPr algn="l"/>
            <a:r>
              <a:rPr lang="en-US" dirty="0"/>
              <a:t>https://blog.hubspot.com/website/cms-features</a:t>
            </a:r>
          </a:p>
        </p:txBody>
      </p:sp>
    </p:spTree>
    <p:extLst>
      <p:ext uri="{BB962C8B-B14F-4D97-AF65-F5344CB8AC3E}">
        <p14:creationId xmlns:p14="http://schemas.microsoft.com/office/powerpoint/2010/main" val="2440854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9A21092-7962-440B-84D3-ED43019797C2}"/>
              </a:ext>
            </a:extLst>
          </p:cNvPr>
          <p:cNvSpPr>
            <a:spLocks noGrp="1"/>
          </p:cNvSpPr>
          <p:nvPr>
            <p:ph type="title"/>
          </p:nvPr>
        </p:nvSpPr>
        <p:spPr/>
        <p:txBody>
          <a:bodyPr/>
          <a:lstStyle/>
          <a:p>
            <a:r>
              <a:rPr lang="en-US" dirty="0"/>
              <a:t>What makes up a CMS?</a:t>
            </a:r>
          </a:p>
        </p:txBody>
      </p:sp>
      <p:sp>
        <p:nvSpPr>
          <p:cNvPr id="9" name="Content Placeholder 8">
            <a:extLst>
              <a:ext uri="{FF2B5EF4-FFF2-40B4-BE49-F238E27FC236}">
                <a16:creationId xmlns:a16="http://schemas.microsoft.com/office/drawing/2014/main" id="{D36F90E1-F678-43F9-9FD6-A100D04EBD4C}"/>
              </a:ext>
            </a:extLst>
          </p:cNvPr>
          <p:cNvSpPr>
            <a:spLocks noGrp="1"/>
          </p:cNvSpPr>
          <p:nvPr>
            <p:ph idx="1"/>
          </p:nvPr>
        </p:nvSpPr>
        <p:spPr/>
        <p:txBody>
          <a:bodyPr/>
          <a:lstStyle/>
          <a:p>
            <a:pPr marL="0" indent="0">
              <a:buNone/>
            </a:pPr>
            <a:r>
              <a:rPr lang="en-US" dirty="0"/>
              <a:t>A content management system is made up of two core parts</a:t>
            </a:r>
          </a:p>
          <a:p>
            <a:pPr algn="just"/>
            <a:r>
              <a:rPr lang="en-US" b="1" dirty="0"/>
              <a:t>A content management application (CMA)</a:t>
            </a:r>
            <a:r>
              <a:rPr lang="en-US" dirty="0"/>
              <a:t> – this is the part that allows you to actually add and manage content on your site.</a:t>
            </a:r>
            <a:endParaRPr lang="en-US" b="1" dirty="0"/>
          </a:p>
          <a:p>
            <a:pPr algn="just"/>
            <a:r>
              <a:rPr lang="en-US" b="1" dirty="0"/>
              <a:t>A content delivery application (CDA)</a:t>
            </a:r>
            <a:r>
              <a:rPr lang="en-US" dirty="0"/>
              <a:t> – this is the backend, behind-the-scenes process that takes the content you input in the CMA, stores it properly, and makes it visible to your visitors.</a:t>
            </a:r>
          </a:p>
          <a:p>
            <a:endParaRPr lang="en-US" dirty="0"/>
          </a:p>
          <a:p>
            <a:endParaRPr lang="en-US" dirty="0"/>
          </a:p>
        </p:txBody>
      </p:sp>
      <p:sp>
        <p:nvSpPr>
          <p:cNvPr id="7" name="Footer Placeholder 6">
            <a:extLst>
              <a:ext uri="{FF2B5EF4-FFF2-40B4-BE49-F238E27FC236}">
                <a16:creationId xmlns:a16="http://schemas.microsoft.com/office/drawing/2014/main" id="{BFE804E8-F01E-423C-BE15-8ABFFBF7A9EB}"/>
              </a:ext>
            </a:extLst>
          </p:cNvPr>
          <p:cNvSpPr>
            <a:spLocks noGrp="1"/>
          </p:cNvSpPr>
          <p:nvPr>
            <p:ph type="ftr" sz="quarter" idx="11"/>
          </p:nvPr>
        </p:nvSpPr>
        <p:spPr>
          <a:xfrm>
            <a:off x="838200" y="6356350"/>
            <a:ext cx="10515600" cy="343029"/>
          </a:xfrm>
        </p:spPr>
        <p:txBody>
          <a:bodyPr/>
          <a:lstStyle/>
          <a:p>
            <a:pPr algn="l"/>
            <a:r>
              <a:rPr lang="en-US" dirty="0"/>
              <a:t>https://kinsta.com/knowledgebase/content-management-system/</a:t>
            </a:r>
          </a:p>
        </p:txBody>
      </p:sp>
    </p:spTree>
    <p:extLst>
      <p:ext uri="{BB962C8B-B14F-4D97-AF65-F5344CB8AC3E}">
        <p14:creationId xmlns:p14="http://schemas.microsoft.com/office/powerpoint/2010/main" val="34548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DCD15-5372-4FBD-8A61-4EBD5DF5E131}"/>
              </a:ext>
            </a:extLst>
          </p:cNvPr>
          <p:cNvSpPr>
            <a:spLocks noGrp="1"/>
          </p:cNvSpPr>
          <p:nvPr>
            <p:ph type="title"/>
          </p:nvPr>
        </p:nvSpPr>
        <p:spPr/>
        <p:txBody>
          <a:bodyPr/>
          <a:lstStyle/>
          <a:p>
            <a:r>
              <a:rPr lang="en-US" dirty="0"/>
              <a:t>Benefits of using a CMS</a:t>
            </a:r>
          </a:p>
        </p:txBody>
      </p:sp>
      <p:sp>
        <p:nvSpPr>
          <p:cNvPr id="3" name="Content Placeholder 2">
            <a:extLst>
              <a:ext uri="{FF2B5EF4-FFF2-40B4-BE49-F238E27FC236}">
                <a16:creationId xmlns:a16="http://schemas.microsoft.com/office/drawing/2014/main" id="{70AF62F5-708A-433E-BB92-C7BE52EE47C4}"/>
              </a:ext>
            </a:extLst>
          </p:cNvPr>
          <p:cNvSpPr>
            <a:spLocks noGrp="1"/>
          </p:cNvSpPr>
          <p:nvPr>
            <p:ph idx="1"/>
          </p:nvPr>
        </p:nvSpPr>
        <p:spPr/>
        <p:txBody>
          <a:bodyPr>
            <a:normAutofit fontScale="92500"/>
          </a:bodyPr>
          <a:lstStyle/>
          <a:p>
            <a:pPr algn="just"/>
            <a:r>
              <a:rPr lang="en-US" dirty="0"/>
              <a:t>One major advantage of a CMS is its collaborative nature. Multiple editors can contribute, schedule or manage content to be published. Because the user interface is usually browser-based, a CMS can be accessed from anywhere by any number of users.</a:t>
            </a:r>
          </a:p>
          <a:p>
            <a:endParaRPr lang="en-US" dirty="0"/>
          </a:p>
          <a:p>
            <a:pPr algn="just"/>
            <a:r>
              <a:rPr lang="en-US" dirty="0"/>
              <a:t>The second major advantage of a CMS is that it allows users who don’t have a background in web development or web design to streamline the web page creation process.</a:t>
            </a:r>
          </a:p>
          <a:p>
            <a:endParaRPr lang="en-US" dirty="0"/>
          </a:p>
          <a:p>
            <a:pPr algn="just"/>
            <a:r>
              <a:rPr lang="en-US" dirty="0"/>
              <a:t>The drag-and-drop editors of a typical content management platform allows content editors to enter text and upload images without needing to know any HTML, CSS implementation, or technical knowledge of website construction.</a:t>
            </a:r>
          </a:p>
          <a:p>
            <a:endParaRPr lang="en-US" dirty="0"/>
          </a:p>
        </p:txBody>
      </p:sp>
      <p:sp>
        <p:nvSpPr>
          <p:cNvPr id="4" name="Footer Placeholder 3">
            <a:extLst>
              <a:ext uri="{FF2B5EF4-FFF2-40B4-BE49-F238E27FC236}">
                <a16:creationId xmlns:a16="http://schemas.microsoft.com/office/drawing/2014/main" id="{6023DE35-1A50-43FE-8F5B-2AE11979ADE9}"/>
              </a:ext>
            </a:extLst>
          </p:cNvPr>
          <p:cNvSpPr>
            <a:spLocks noGrp="1"/>
          </p:cNvSpPr>
          <p:nvPr>
            <p:ph type="ftr" sz="quarter" idx="11"/>
          </p:nvPr>
        </p:nvSpPr>
        <p:spPr>
          <a:xfrm>
            <a:off x="838200" y="6356351"/>
            <a:ext cx="10515600" cy="305706"/>
          </a:xfrm>
        </p:spPr>
        <p:txBody>
          <a:bodyPr/>
          <a:lstStyle/>
          <a:p>
            <a:pPr algn="l"/>
            <a:r>
              <a:rPr lang="en-US" dirty="0"/>
              <a:t>https://www.optimizely.com/optimization-glossary/content-management-system/</a:t>
            </a:r>
          </a:p>
        </p:txBody>
      </p:sp>
    </p:spTree>
    <p:extLst>
      <p:ext uri="{BB962C8B-B14F-4D97-AF65-F5344CB8AC3E}">
        <p14:creationId xmlns:p14="http://schemas.microsoft.com/office/powerpoint/2010/main" val="149399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C1F4-189D-456B-A57E-A36E9C364ABF}"/>
              </a:ext>
            </a:extLst>
          </p:cNvPr>
          <p:cNvSpPr>
            <a:spLocks noGrp="1"/>
          </p:cNvSpPr>
          <p:nvPr>
            <p:ph type="title"/>
          </p:nvPr>
        </p:nvSpPr>
        <p:spPr/>
        <p:txBody>
          <a:bodyPr/>
          <a:lstStyle/>
          <a:p>
            <a:r>
              <a:rPr lang="en-US" dirty="0"/>
              <a:t>Benefits of using a CMS</a:t>
            </a:r>
          </a:p>
        </p:txBody>
      </p:sp>
      <p:sp>
        <p:nvSpPr>
          <p:cNvPr id="3" name="Content Placeholder 2">
            <a:extLst>
              <a:ext uri="{FF2B5EF4-FFF2-40B4-BE49-F238E27FC236}">
                <a16:creationId xmlns:a16="http://schemas.microsoft.com/office/drawing/2014/main" id="{2CA830F6-C57E-494A-B85B-30DD6A008211}"/>
              </a:ext>
            </a:extLst>
          </p:cNvPr>
          <p:cNvSpPr>
            <a:spLocks noGrp="1"/>
          </p:cNvSpPr>
          <p:nvPr>
            <p:ph idx="1"/>
          </p:nvPr>
        </p:nvSpPr>
        <p:spPr/>
        <p:txBody>
          <a:bodyPr/>
          <a:lstStyle/>
          <a:p>
            <a:pPr algn="just"/>
            <a:r>
              <a:rPr lang="en-US" dirty="0"/>
              <a:t>When a company uses a CMS to publish its web pages, it reduces its reliance on front-end and back-end developers to make changes to the website, making it quicker and easier to publish new web pages such as articles and landing pages, improving the digital experience for users and visitors.</a:t>
            </a:r>
          </a:p>
          <a:p>
            <a:pPr algn="just"/>
            <a:r>
              <a:rPr lang="en-US" dirty="0"/>
              <a:t>When a company uses a CMS to publish content to other channels - like social, mobile apps and ecommerce, it can drastically reduce the amount of development a company needs to do and make it easier to distribute content to different channels simultaneously.</a:t>
            </a:r>
          </a:p>
          <a:p>
            <a:endParaRPr lang="en-US" dirty="0"/>
          </a:p>
        </p:txBody>
      </p:sp>
      <p:sp>
        <p:nvSpPr>
          <p:cNvPr id="5" name="Footer Placeholder 3">
            <a:extLst>
              <a:ext uri="{FF2B5EF4-FFF2-40B4-BE49-F238E27FC236}">
                <a16:creationId xmlns:a16="http://schemas.microsoft.com/office/drawing/2014/main" id="{78A00457-DB35-47AD-954E-78BF58958617}"/>
              </a:ext>
            </a:extLst>
          </p:cNvPr>
          <p:cNvSpPr>
            <a:spLocks noGrp="1"/>
          </p:cNvSpPr>
          <p:nvPr>
            <p:ph type="ftr" sz="quarter" idx="11"/>
          </p:nvPr>
        </p:nvSpPr>
        <p:spPr>
          <a:xfrm>
            <a:off x="838200" y="6356351"/>
            <a:ext cx="10515600" cy="305706"/>
          </a:xfrm>
        </p:spPr>
        <p:txBody>
          <a:bodyPr/>
          <a:lstStyle/>
          <a:p>
            <a:pPr algn="l"/>
            <a:r>
              <a:rPr lang="en-US" dirty="0"/>
              <a:t>https://www.optimizely.com/optimization-glossary/content-management-system/</a:t>
            </a:r>
          </a:p>
        </p:txBody>
      </p:sp>
    </p:spTree>
    <p:extLst>
      <p:ext uri="{BB962C8B-B14F-4D97-AF65-F5344CB8AC3E}">
        <p14:creationId xmlns:p14="http://schemas.microsoft.com/office/powerpoint/2010/main" val="108516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1B935-41D7-4EF7-B97F-6BD39B6EAD88}"/>
              </a:ext>
            </a:extLst>
          </p:cNvPr>
          <p:cNvSpPr>
            <a:spLocks noGrp="1"/>
          </p:cNvSpPr>
          <p:nvPr>
            <p:ph type="title"/>
          </p:nvPr>
        </p:nvSpPr>
        <p:spPr/>
        <p:txBody>
          <a:bodyPr/>
          <a:lstStyle/>
          <a:p>
            <a:r>
              <a:rPr lang="en-US" dirty="0"/>
              <a:t>Some samples of CMS</a:t>
            </a:r>
          </a:p>
        </p:txBody>
      </p:sp>
      <p:sp>
        <p:nvSpPr>
          <p:cNvPr id="5" name="Content Placeholder 4">
            <a:extLst>
              <a:ext uri="{FF2B5EF4-FFF2-40B4-BE49-F238E27FC236}">
                <a16:creationId xmlns:a16="http://schemas.microsoft.com/office/drawing/2014/main" id="{23B6465E-1DAF-4A6E-84ED-0F3D4A50E9CB}"/>
              </a:ext>
            </a:extLst>
          </p:cNvPr>
          <p:cNvSpPr>
            <a:spLocks noGrp="1"/>
          </p:cNvSpPr>
          <p:nvPr>
            <p:ph sz="half" idx="1"/>
          </p:nvPr>
        </p:nvSpPr>
        <p:spPr/>
        <p:txBody>
          <a:bodyPr/>
          <a:lstStyle/>
          <a:p>
            <a:r>
              <a:rPr lang="en-US" dirty="0" err="1"/>
              <a:t>Wordpress</a:t>
            </a:r>
            <a:endParaRPr lang="en-US" dirty="0"/>
          </a:p>
          <a:p>
            <a:r>
              <a:rPr lang="en-US" dirty="0"/>
              <a:t>Drupal</a:t>
            </a:r>
          </a:p>
          <a:p>
            <a:r>
              <a:rPr lang="en-US" dirty="0"/>
              <a:t>Magento</a:t>
            </a:r>
          </a:p>
          <a:p>
            <a:r>
              <a:rPr lang="en-US" dirty="0"/>
              <a:t>Joomla</a:t>
            </a:r>
          </a:p>
          <a:p>
            <a:r>
              <a:rPr lang="en-US" dirty="0"/>
              <a:t>Shopify</a:t>
            </a:r>
          </a:p>
          <a:p>
            <a:r>
              <a:rPr lang="en-US" dirty="0" err="1"/>
              <a:t>Woocommerce</a:t>
            </a:r>
            <a:endParaRPr lang="en-US" dirty="0"/>
          </a:p>
          <a:p>
            <a:r>
              <a:rPr lang="en-US" dirty="0" err="1"/>
              <a:t>Prestashop</a:t>
            </a:r>
            <a:endParaRPr lang="en-US" dirty="0"/>
          </a:p>
        </p:txBody>
      </p:sp>
      <p:sp>
        <p:nvSpPr>
          <p:cNvPr id="6" name="Content Placeholder 5">
            <a:extLst>
              <a:ext uri="{FF2B5EF4-FFF2-40B4-BE49-F238E27FC236}">
                <a16:creationId xmlns:a16="http://schemas.microsoft.com/office/drawing/2014/main" id="{3C426F20-ECA7-4809-A9C2-A6D39FC72A72}"/>
              </a:ext>
            </a:extLst>
          </p:cNvPr>
          <p:cNvSpPr>
            <a:spLocks noGrp="1"/>
          </p:cNvSpPr>
          <p:nvPr>
            <p:ph sz="half" idx="2"/>
          </p:nvPr>
        </p:nvSpPr>
        <p:spPr/>
        <p:txBody>
          <a:bodyPr/>
          <a:lstStyle/>
          <a:p>
            <a:pPr marL="0" indent="0">
              <a:buNone/>
            </a:pPr>
            <a:endParaRPr lang="en-US" dirty="0"/>
          </a:p>
        </p:txBody>
      </p:sp>
      <p:sp>
        <p:nvSpPr>
          <p:cNvPr id="4" name="Footer Placeholder 3">
            <a:extLst>
              <a:ext uri="{FF2B5EF4-FFF2-40B4-BE49-F238E27FC236}">
                <a16:creationId xmlns:a16="http://schemas.microsoft.com/office/drawing/2014/main" id="{C5C31920-6416-45BD-9F7F-10BE73551C2D}"/>
              </a:ext>
            </a:extLst>
          </p:cNvPr>
          <p:cNvSpPr>
            <a:spLocks noGrp="1"/>
          </p:cNvSpPr>
          <p:nvPr>
            <p:ph type="ftr" sz="quarter" idx="11"/>
          </p:nvPr>
        </p:nvSpPr>
        <p:spPr/>
        <p:txBody>
          <a:bodyPr/>
          <a:lstStyle/>
          <a:p>
            <a:pPr algn="l"/>
            <a:r>
              <a:rPr lang="en-US" dirty="0"/>
              <a:t>https://surferseo.com/blog/content-management-system-examples/</a:t>
            </a:r>
          </a:p>
        </p:txBody>
      </p:sp>
    </p:spTree>
    <p:extLst>
      <p:ext uri="{BB962C8B-B14F-4D97-AF65-F5344CB8AC3E}">
        <p14:creationId xmlns:p14="http://schemas.microsoft.com/office/powerpoint/2010/main" val="8187094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20</TotalTime>
  <Words>554</Words>
  <Application>Microsoft Office PowerPoint</Application>
  <PresentationFormat>Widescreen</PresentationFormat>
  <Paragraphs>57</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Tw Cen MT</vt:lpstr>
      <vt:lpstr>Tw Cen MT Condensed</vt:lpstr>
      <vt:lpstr>Wingdings 3</vt:lpstr>
      <vt:lpstr>Integral</vt:lpstr>
      <vt:lpstr>ITP219</vt:lpstr>
      <vt:lpstr>What is Content Management System?</vt:lpstr>
      <vt:lpstr>What is Content Management System?</vt:lpstr>
      <vt:lpstr>How does a CMS work?</vt:lpstr>
      <vt:lpstr>How does a CMS work?</vt:lpstr>
      <vt:lpstr>What are the different features of a CMS?</vt:lpstr>
      <vt:lpstr>What makes up a CMS?</vt:lpstr>
      <vt:lpstr>Benefits of using a CMS</vt:lpstr>
      <vt:lpstr>Benefits of using a CMS</vt:lpstr>
      <vt:lpstr>Some samples of CMS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ITP219</dc:title>
  <dc:creator>Sunny Lopez</dc:creator>
  <cp:lastModifiedBy>Sunny Lopez</cp:lastModifiedBy>
  <cp:revision>16</cp:revision>
  <dcterms:created xsi:type="dcterms:W3CDTF">2024-08-11T23:47:52Z</dcterms:created>
  <dcterms:modified xsi:type="dcterms:W3CDTF">2024-08-26T13:28:07Z</dcterms:modified>
</cp:coreProperties>
</file>