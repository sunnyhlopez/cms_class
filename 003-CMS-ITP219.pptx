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2"/>
  </p:notesMasterIdLst>
  <p:sldIdLst>
    <p:sldId id="256" r:id="rId2"/>
    <p:sldId id="259" r:id="rId3"/>
    <p:sldId id="257" r:id="rId4"/>
    <p:sldId id="258" r:id="rId5"/>
    <p:sldId id="260" r:id="rId6"/>
    <p:sldId id="261" r:id="rId7"/>
    <p:sldId id="262" r:id="rId8"/>
    <p:sldId id="263" r:id="rId9"/>
    <p:sldId id="264" r:id="rId10"/>
    <p:sldId id="268" r:id="rId11"/>
    <p:sldId id="265"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35" autoAdjust="0"/>
  </p:normalViewPr>
  <p:slideViewPr>
    <p:cSldViewPr snapToGrid="0" showGuides="1">
      <p:cViewPr varScale="1">
        <p:scale>
          <a:sx n="52" d="100"/>
          <a:sy n="52"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CCA1-0206-4C1D-8FBE-86A23A74177B}" type="datetimeFigureOut">
              <a:rPr lang="en-US" smtClean="0"/>
              <a:t>8/26/2024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FDB4D-3397-4AA1-8D41-D9AD934B9B18}" type="slidenum">
              <a:rPr lang="en-US" smtClean="0"/>
              <a:t>‹#›</a:t>
            </a:fld>
            <a:endParaRPr lang="en-US"/>
          </a:p>
        </p:txBody>
      </p:sp>
    </p:spTree>
    <p:extLst>
      <p:ext uri="{BB962C8B-B14F-4D97-AF65-F5344CB8AC3E}">
        <p14:creationId xmlns:p14="http://schemas.microsoft.com/office/powerpoint/2010/main" val="166525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063643D-8225-4F8C-BFF8-7176355E8E39}"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49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A810AF-B02B-40F7-B5DD-ABA697D23FD4}"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40834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E84F92-1261-40D3-BECE-5835445D8F52}"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2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FEE61-7D9C-43E3-A238-39CD016EC32B}"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883360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76E5C-37F1-464C-9A14-6B7507BA541B}" type="datetime1">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97015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766F6-3E6C-4C81-90FD-E9629BB9934D}" type="datetime1">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70108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8E9D-D5A2-40EF-BC93-DFAED5D9D2E6}" type="datetime1">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586365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ADD9D5-CBD3-4DEB-8BEC-2AE65EA3D268}"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13803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BC6E84-C897-4226-918D-928DB6D1B8A4}" type="datetime1">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01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87322-9529-4649-8C81-2A65251FCFA6}"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00489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B2D477-07A8-477B-8D07-61CCC236A38A}" type="datetime1">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A5BEEE-4335-4DF4-AD26-2272FBA491A1}" type="datetime1">
              <a:rPr lang="en-US" smtClean="0"/>
              <a:t>8/26/2024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23CED-E8B2-4C87-9FAC-E88E7AD8180A}"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83911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webomindapps.com/creating-content-that-converts.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63A5-3690-451A-A791-38751893C286}"/>
              </a:ext>
            </a:extLst>
          </p:cNvPr>
          <p:cNvSpPr>
            <a:spLocks noGrp="1"/>
          </p:cNvSpPr>
          <p:nvPr>
            <p:ph type="ctrTitle"/>
          </p:nvPr>
        </p:nvSpPr>
        <p:spPr/>
        <p:txBody>
          <a:bodyPr/>
          <a:lstStyle/>
          <a:p>
            <a:r>
              <a:rPr lang="en-US" dirty="0"/>
              <a:t>ITP219</a:t>
            </a:r>
          </a:p>
        </p:txBody>
      </p:sp>
      <p:sp>
        <p:nvSpPr>
          <p:cNvPr id="3" name="Subtitle 2">
            <a:extLst>
              <a:ext uri="{FF2B5EF4-FFF2-40B4-BE49-F238E27FC236}">
                <a16:creationId xmlns:a16="http://schemas.microsoft.com/office/drawing/2014/main" id="{1258704A-3D89-4CB1-B536-1B269A9478AD}"/>
              </a:ext>
            </a:extLst>
          </p:cNvPr>
          <p:cNvSpPr>
            <a:spLocks noGrp="1"/>
          </p:cNvSpPr>
          <p:nvPr>
            <p:ph type="subTitle" idx="1"/>
          </p:nvPr>
        </p:nvSpPr>
        <p:spPr/>
        <p:txBody>
          <a:bodyPr/>
          <a:lstStyle/>
          <a:p>
            <a:r>
              <a:rPr lang="en-US" dirty="0"/>
              <a:t>CONTENT MANAGEMENT SYSTEM | WEEK 3</a:t>
            </a:r>
          </a:p>
        </p:txBody>
      </p:sp>
      <p:sp>
        <p:nvSpPr>
          <p:cNvPr id="4" name="Footer Placeholder 3">
            <a:extLst>
              <a:ext uri="{FF2B5EF4-FFF2-40B4-BE49-F238E27FC236}">
                <a16:creationId xmlns:a16="http://schemas.microsoft.com/office/drawing/2014/main" id="{38C4FE9A-307E-4243-915C-91BE0E3227F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51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10996-1D83-42EF-B5A9-3C0D0C3F30C3}"/>
              </a:ext>
            </a:extLst>
          </p:cNvPr>
          <p:cNvSpPr>
            <a:spLocks noGrp="1"/>
          </p:cNvSpPr>
          <p:nvPr>
            <p:ph type="title"/>
          </p:nvPr>
        </p:nvSpPr>
        <p:spPr/>
        <p:txBody>
          <a:bodyPr/>
          <a:lstStyle/>
          <a:p>
            <a:r>
              <a:rPr lang="en-US" dirty="0"/>
              <a:t>Building your own </a:t>
            </a:r>
            <a:r>
              <a:rPr lang="en-US" dirty="0" err="1"/>
              <a:t>cms</a:t>
            </a:r>
            <a:endParaRPr lang="en-US" dirty="0"/>
          </a:p>
        </p:txBody>
      </p:sp>
      <p:sp>
        <p:nvSpPr>
          <p:cNvPr id="3" name="Content Placeholder 2">
            <a:extLst>
              <a:ext uri="{FF2B5EF4-FFF2-40B4-BE49-F238E27FC236}">
                <a16:creationId xmlns:a16="http://schemas.microsoft.com/office/drawing/2014/main" id="{850F76C2-F417-44B4-A958-30224FC2F39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66AD10E-D4C3-4A54-B57A-E8C5469D75BC}"/>
              </a:ext>
            </a:extLst>
          </p:cNvPr>
          <p:cNvSpPr>
            <a:spLocks noGrp="1"/>
          </p:cNvSpPr>
          <p:nvPr>
            <p:ph type="ftr" sz="quarter" idx="11"/>
          </p:nvPr>
        </p:nvSpPr>
        <p:spPr/>
        <p:txBody>
          <a:bodyPr/>
          <a:lstStyle/>
          <a:p>
            <a:endParaRPr lang="en-US"/>
          </a:p>
        </p:txBody>
      </p:sp>
      <p:pic>
        <p:nvPicPr>
          <p:cNvPr id="1026" name="Picture 2" descr="Building Content Management System (CMS) with PHP">
            <a:extLst>
              <a:ext uri="{FF2B5EF4-FFF2-40B4-BE49-F238E27FC236}">
                <a16:creationId xmlns:a16="http://schemas.microsoft.com/office/drawing/2014/main" id="{A5F88BD7-8D4F-42D2-B551-C5B41C9A75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859" y="2317791"/>
            <a:ext cx="6848281" cy="3991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190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C3BF9-B1C7-4DBF-9221-DDAD0A80E74B}"/>
              </a:ext>
            </a:extLst>
          </p:cNvPr>
          <p:cNvSpPr>
            <a:spLocks noGrp="1"/>
          </p:cNvSpPr>
          <p:nvPr>
            <p:ph type="title"/>
          </p:nvPr>
        </p:nvSpPr>
        <p:spPr/>
        <p:txBody>
          <a:bodyPr/>
          <a:lstStyle/>
          <a:p>
            <a:r>
              <a:rPr lang="en-US" dirty="0"/>
              <a:t>Building your own </a:t>
            </a:r>
            <a:r>
              <a:rPr lang="en-US" dirty="0" err="1"/>
              <a:t>cms</a:t>
            </a:r>
            <a:endParaRPr lang="en-US" dirty="0"/>
          </a:p>
        </p:txBody>
      </p:sp>
      <p:sp>
        <p:nvSpPr>
          <p:cNvPr id="3" name="Content Placeholder 2">
            <a:extLst>
              <a:ext uri="{FF2B5EF4-FFF2-40B4-BE49-F238E27FC236}">
                <a16:creationId xmlns:a16="http://schemas.microsoft.com/office/drawing/2014/main" id="{D286660C-4504-4B76-AC90-AE440F00E165}"/>
              </a:ext>
            </a:extLst>
          </p:cNvPr>
          <p:cNvSpPr>
            <a:spLocks noGrp="1"/>
          </p:cNvSpPr>
          <p:nvPr>
            <p:ph idx="1"/>
          </p:nvPr>
        </p:nvSpPr>
        <p:spPr/>
        <p:txBody>
          <a:bodyPr>
            <a:normAutofit/>
          </a:bodyPr>
          <a:lstStyle/>
          <a:p>
            <a:pPr algn="just"/>
            <a:r>
              <a:rPr lang="en-US" sz="2800" dirty="0"/>
              <a:t>In the digital age, having a robust and flexible Content Management System (CMS) is crucial for websites of all sizes. PHP, a server-side scripting language, is an excellent choice for building a CMS due to its simplicity, efficiency, and wide support. This comprehensive guide will take you through the steps to create a basic yet functional CMS using PHP.</a:t>
            </a:r>
          </a:p>
        </p:txBody>
      </p:sp>
      <p:sp>
        <p:nvSpPr>
          <p:cNvPr id="4" name="Footer Placeholder 3">
            <a:extLst>
              <a:ext uri="{FF2B5EF4-FFF2-40B4-BE49-F238E27FC236}">
                <a16:creationId xmlns:a16="http://schemas.microsoft.com/office/drawing/2014/main" id="{69DE4CF2-26DC-42AF-89A7-D11611F73BFD}"/>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77102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B1E9-083D-42A1-8669-8D203101D397}"/>
              </a:ext>
            </a:extLst>
          </p:cNvPr>
          <p:cNvSpPr>
            <a:spLocks noGrp="1"/>
          </p:cNvSpPr>
          <p:nvPr>
            <p:ph type="title"/>
          </p:nvPr>
        </p:nvSpPr>
        <p:spPr/>
        <p:txBody>
          <a:bodyPr/>
          <a:lstStyle/>
          <a:p>
            <a:r>
              <a:rPr lang="en-US" dirty="0"/>
              <a:t>Building your own </a:t>
            </a:r>
            <a:r>
              <a:rPr lang="en-US" dirty="0" err="1"/>
              <a:t>cms</a:t>
            </a:r>
            <a:endParaRPr lang="en-US" dirty="0"/>
          </a:p>
        </p:txBody>
      </p:sp>
      <p:sp>
        <p:nvSpPr>
          <p:cNvPr id="3" name="Content Placeholder 2">
            <a:extLst>
              <a:ext uri="{FF2B5EF4-FFF2-40B4-BE49-F238E27FC236}">
                <a16:creationId xmlns:a16="http://schemas.microsoft.com/office/drawing/2014/main" id="{A393D15D-A96E-4977-9760-C60E536C9EEB}"/>
              </a:ext>
            </a:extLst>
          </p:cNvPr>
          <p:cNvSpPr>
            <a:spLocks noGrp="1"/>
          </p:cNvSpPr>
          <p:nvPr>
            <p:ph sz="half" idx="1"/>
          </p:nvPr>
        </p:nvSpPr>
        <p:spPr/>
        <p:txBody>
          <a:bodyPr>
            <a:normAutofit lnSpcReduction="10000"/>
          </a:bodyPr>
          <a:lstStyle/>
          <a:p>
            <a:pPr>
              <a:buFont typeface="Arial" panose="020B0604020202020204" pitchFamily="34" charset="0"/>
              <a:buChar char="•"/>
            </a:pPr>
            <a:r>
              <a:rPr lang="en-US" dirty="0"/>
              <a:t>SETTING UP THE DEVELOPMENT ENVIRONMENT</a:t>
            </a:r>
          </a:p>
          <a:p>
            <a:pPr>
              <a:buFont typeface="Arial" panose="020B0604020202020204" pitchFamily="34" charset="0"/>
              <a:buChar char="•"/>
            </a:pPr>
            <a:r>
              <a:rPr lang="en-US" dirty="0"/>
              <a:t>PLANNING YOUR CMS</a:t>
            </a:r>
          </a:p>
          <a:p>
            <a:pPr>
              <a:buFont typeface="Arial" panose="020B0604020202020204" pitchFamily="34" charset="0"/>
              <a:buChar char="•"/>
            </a:pPr>
            <a:r>
              <a:rPr lang="en-US" dirty="0"/>
              <a:t>CREATING THE DATABASE</a:t>
            </a:r>
          </a:p>
          <a:p>
            <a:pPr>
              <a:buFont typeface="Arial" panose="020B0604020202020204" pitchFamily="34" charset="0"/>
              <a:buChar char="•"/>
            </a:pPr>
            <a:r>
              <a:rPr lang="en-US" dirty="0"/>
              <a:t>BUILDING THE CMS BACKEND</a:t>
            </a:r>
          </a:p>
          <a:p>
            <a:pPr>
              <a:buFont typeface="Arial" panose="020B0604020202020204" pitchFamily="34" charset="0"/>
              <a:buChar char="•"/>
            </a:pPr>
            <a:r>
              <a:rPr lang="en-US" dirty="0"/>
              <a:t>DEVELOPING THE FRONT END</a:t>
            </a:r>
          </a:p>
          <a:p>
            <a:pPr>
              <a:buFont typeface="Arial" panose="020B0604020202020204" pitchFamily="34" charset="0"/>
              <a:buChar char="•"/>
            </a:pPr>
            <a:r>
              <a:rPr lang="en-US" dirty="0"/>
              <a:t>DEVELOPING THE FRONT END</a:t>
            </a:r>
          </a:p>
          <a:p>
            <a:pPr>
              <a:buFont typeface="Arial" panose="020B0604020202020204" pitchFamily="34" charset="0"/>
              <a:buChar char="•"/>
            </a:pPr>
            <a:r>
              <a:rPr lang="en-US" dirty="0"/>
              <a:t>INTEGRATING A RICH TEXT EDITOR</a:t>
            </a:r>
          </a:p>
          <a:p>
            <a:pPr>
              <a:buFont typeface="Arial" panose="020B0604020202020204" pitchFamily="34" charset="0"/>
              <a:buChar char="•"/>
            </a:pPr>
            <a:r>
              <a:rPr lang="en-US" dirty="0"/>
              <a:t>IMPLEMENTING SECURITY MEASURES</a:t>
            </a:r>
          </a:p>
        </p:txBody>
      </p:sp>
      <p:sp>
        <p:nvSpPr>
          <p:cNvPr id="8" name="Content Placeholder 7">
            <a:extLst>
              <a:ext uri="{FF2B5EF4-FFF2-40B4-BE49-F238E27FC236}">
                <a16:creationId xmlns:a16="http://schemas.microsoft.com/office/drawing/2014/main" id="{0665F29C-5C42-4DAD-B2D9-53B645DD2293}"/>
              </a:ext>
            </a:extLst>
          </p:cNvPr>
          <p:cNvSpPr>
            <a:spLocks noGrp="1"/>
          </p:cNvSpPr>
          <p:nvPr>
            <p:ph sz="half" idx="2"/>
          </p:nvPr>
        </p:nvSpPr>
        <p:spPr/>
        <p:txBody>
          <a:bodyPr>
            <a:normAutofit lnSpcReduction="10000"/>
          </a:bodyPr>
          <a:lstStyle/>
          <a:p>
            <a:r>
              <a:rPr lang="en-US" dirty="0"/>
              <a:t>TESTING YOUR CMS</a:t>
            </a:r>
          </a:p>
          <a:p>
            <a:r>
              <a:rPr lang="en-US" dirty="0"/>
              <a:t>DEPLOYING YOUR CMS</a:t>
            </a:r>
          </a:p>
          <a:p>
            <a:r>
              <a:rPr lang="en-US" dirty="0"/>
              <a:t>MAINTENING AND UPDATING YOUR CMS</a:t>
            </a:r>
          </a:p>
          <a:p>
            <a:r>
              <a:rPr lang="en-US" dirty="0"/>
              <a:t>ADVANCED FEATURES AND CUSTOMIZATION</a:t>
            </a:r>
          </a:p>
          <a:p>
            <a:pPr marL="0" indent="0">
              <a:buNone/>
            </a:pPr>
            <a:endParaRPr lang="en-US" dirty="0"/>
          </a:p>
          <a:p>
            <a:endParaRPr lang="en-US" dirty="0"/>
          </a:p>
        </p:txBody>
      </p:sp>
      <p:sp>
        <p:nvSpPr>
          <p:cNvPr id="4" name="Footer Placeholder 3">
            <a:extLst>
              <a:ext uri="{FF2B5EF4-FFF2-40B4-BE49-F238E27FC236}">
                <a16:creationId xmlns:a16="http://schemas.microsoft.com/office/drawing/2014/main" id="{545C9D35-A2E3-4CCD-8AED-3ED954EB907D}"/>
              </a:ext>
            </a:extLst>
          </p:cNvPr>
          <p:cNvSpPr>
            <a:spLocks noGrp="1"/>
          </p:cNvSpPr>
          <p:nvPr>
            <p:ph type="ftr" sz="quarter" idx="11"/>
          </p:nvPr>
        </p:nvSpPr>
        <p:spPr>
          <a:xfrm>
            <a:off x="1024128" y="6470704"/>
            <a:ext cx="9720072" cy="247337"/>
          </a:xfrm>
        </p:spPr>
        <p:txBody>
          <a:bodyPr/>
          <a:lstStyle/>
          <a:p>
            <a:pPr algn="l"/>
            <a:r>
              <a:rPr lang="en-US" dirty="0"/>
              <a:t>https://manoj-shu100.medium.com/building-a-content-management-system-cms-with-php-a-step-by-step-guide-31dcec2d9716</a:t>
            </a:r>
          </a:p>
        </p:txBody>
      </p:sp>
    </p:spTree>
    <p:extLst>
      <p:ext uri="{BB962C8B-B14F-4D97-AF65-F5344CB8AC3E}">
        <p14:creationId xmlns:p14="http://schemas.microsoft.com/office/powerpoint/2010/main" val="142807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ampServer Logo | SVG | Real Company | Alphabet, Letter W Logo">
            <a:extLst>
              <a:ext uri="{FF2B5EF4-FFF2-40B4-BE49-F238E27FC236}">
                <a16:creationId xmlns:a16="http://schemas.microsoft.com/office/drawing/2014/main" id="{CD60638A-9349-47E0-9039-E17C866CD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379" y="3861045"/>
            <a:ext cx="1943100" cy="1828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SETTING UP THE DEVELOPMENT ENVIRONMENT</a:t>
            </a:r>
          </a:p>
        </p:txBody>
      </p:sp>
      <p:sp>
        <p:nvSpPr>
          <p:cNvPr id="6" name="Content Placeholder 5">
            <a:extLst>
              <a:ext uri="{FF2B5EF4-FFF2-40B4-BE49-F238E27FC236}">
                <a16:creationId xmlns:a16="http://schemas.microsoft.com/office/drawing/2014/main" id="{02F2E2FB-3B93-43FB-9D71-A1CCC8A2E952}"/>
              </a:ext>
            </a:extLst>
          </p:cNvPr>
          <p:cNvSpPr>
            <a:spLocks noGrp="1"/>
          </p:cNvSpPr>
          <p:nvPr>
            <p:ph idx="1"/>
          </p:nvPr>
        </p:nvSpPr>
        <p:spPr/>
        <p:txBody>
          <a:bodyPr>
            <a:normAutofit/>
          </a:bodyPr>
          <a:lstStyle/>
          <a:p>
            <a:pPr algn="just"/>
            <a:r>
              <a:rPr lang="en-US" sz="2800" dirty="0"/>
              <a:t>Install a Local Server: Use software like XAMPP or MAMP to set up a local PHP server.</a:t>
            </a:r>
          </a:p>
          <a:p>
            <a:pPr algn="just"/>
            <a:r>
              <a:rPr lang="en-US" sz="2800" dirty="0"/>
              <a:t>Text Editor: Choose a text editor like Visual Studio Code or Sublime Text for writing your PHP code.</a:t>
            </a:r>
          </a:p>
        </p:txBody>
      </p:sp>
      <p:pic>
        <p:nvPicPr>
          <p:cNvPr id="2052" name="Picture 4" descr="XAMPP Logo PNG Vector (SVG) Free Download">
            <a:extLst>
              <a:ext uri="{FF2B5EF4-FFF2-40B4-BE49-F238E27FC236}">
                <a16:creationId xmlns:a16="http://schemas.microsoft.com/office/drawing/2014/main" id="{5411A136-58FC-4FBE-9A44-ED9A2DBBE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128" y="4297680"/>
            <a:ext cx="1015251" cy="95553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8" y="6470704"/>
            <a:ext cx="9720072" cy="247337"/>
          </a:xfrm>
        </p:spPr>
        <p:txBody>
          <a:bodyPr/>
          <a:lstStyle/>
          <a:p>
            <a:pPr algn="l"/>
            <a:r>
              <a:rPr lang="en-US" dirty="0"/>
              <a:t>https://manoj-shu100.medium.com/building-a-content-management-system-cms-with-php-a-step-by-step-guide-31dcec2d9716</a:t>
            </a:r>
          </a:p>
        </p:txBody>
      </p:sp>
    </p:spTree>
    <p:extLst>
      <p:ext uri="{BB962C8B-B14F-4D97-AF65-F5344CB8AC3E}">
        <p14:creationId xmlns:p14="http://schemas.microsoft.com/office/powerpoint/2010/main" val="1782327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planning your </a:t>
            </a:r>
            <a:r>
              <a:rPr lang="en-US" dirty="0" err="1"/>
              <a:t>cms</a:t>
            </a:r>
            <a:endParaRPr lang="en-US" dirty="0"/>
          </a:p>
        </p:txBody>
      </p:sp>
      <p:sp>
        <p:nvSpPr>
          <p:cNvPr id="6" name="Content Placeholder 5">
            <a:extLst>
              <a:ext uri="{FF2B5EF4-FFF2-40B4-BE49-F238E27FC236}">
                <a16:creationId xmlns:a16="http://schemas.microsoft.com/office/drawing/2014/main" id="{02F2E2FB-3B93-43FB-9D71-A1CCC8A2E952}"/>
              </a:ext>
            </a:extLst>
          </p:cNvPr>
          <p:cNvSpPr>
            <a:spLocks noGrp="1"/>
          </p:cNvSpPr>
          <p:nvPr>
            <p:ph idx="1"/>
          </p:nvPr>
        </p:nvSpPr>
        <p:spPr/>
        <p:txBody>
          <a:bodyPr>
            <a:normAutofit/>
          </a:bodyPr>
          <a:lstStyle/>
          <a:p>
            <a:r>
              <a:rPr lang="en-US" sz="2800" b="1" dirty="0"/>
              <a:t>Define Features:</a:t>
            </a:r>
            <a:r>
              <a:rPr lang="en-US" sz="2800" dirty="0"/>
              <a:t> List the features you want in your CMS, such as a user login, content editor, file manager, etc.</a:t>
            </a:r>
          </a:p>
          <a:p>
            <a:r>
              <a:rPr lang="en-US" sz="2800" b="1" dirty="0"/>
              <a:t>Database Structure: </a:t>
            </a:r>
            <a:r>
              <a:rPr lang="en-US" sz="2800" dirty="0"/>
              <a:t>Plan the structure of your database. Typically, you’ll need tables for users, posts, and settings.</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8" y="6470704"/>
            <a:ext cx="9720072" cy="247337"/>
          </a:xfrm>
        </p:spPr>
        <p:txBody>
          <a:bodyPr/>
          <a:lstStyle/>
          <a:p>
            <a:pPr algn="l"/>
            <a:r>
              <a:rPr lang="en-US" dirty="0"/>
              <a:t>https://manoj-shu100.medium.com/building-a-content-management-system-cms-with-php-a-step-by-step-guide-31dcec2d9716</a:t>
            </a:r>
          </a:p>
        </p:txBody>
      </p:sp>
    </p:spTree>
    <p:extLst>
      <p:ext uri="{BB962C8B-B14F-4D97-AF65-F5344CB8AC3E}">
        <p14:creationId xmlns:p14="http://schemas.microsoft.com/office/powerpoint/2010/main" val="1445355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creating the database</a:t>
            </a:r>
          </a:p>
        </p:txBody>
      </p:sp>
      <p:sp>
        <p:nvSpPr>
          <p:cNvPr id="6" name="Content Placeholder 5">
            <a:extLst>
              <a:ext uri="{FF2B5EF4-FFF2-40B4-BE49-F238E27FC236}">
                <a16:creationId xmlns:a16="http://schemas.microsoft.com/office/drawing/2014/main" id="{02F2E2FB-3B93-43FB-9D71-A1CCC8A2E952}"/>
              </a:ext>
            </a:extLst>
          </p:cNvPr>
          <p:cNvSpPr>
            <a:spLocks noGrp="1"/>
          </p:cNvSpPr>
          <p:nvPr>
            <p:ph idx="1"/>
          </p:nvPr>
        </p:nvSpPr>
        <p:spPr/>
        <p:txBody>
          <a:bodyPr>
            <a:normAutofit/>
          </a:bodyPr>
          <a:lstStyle/>
          <a:p>
            <a:pPr algn="just"/>
            <a:r>
              <a:rPr lang="en-US" sz="2800" b="1" dirty="0"/>
              <a:t>Connecting to the Database: </a:t>
            </a:r>
            <a:r>
              <a:rPr lang="en-US" sz="2800" dirty="0"/>
              <a:t>Write a PHP script to connect to your MySQL database.</a:t>
            </a:r>
          </a:p>
          <a:p>
            <a:pPr algn="just"/>
            <a:r>
              <a:rPr lang="en-US" sz="2800" b="1" dirty="0"/>
              <a:t>Creating Login System: </a:t>
            </a:r>
            <a:r>
              <a:rPr lang="en-US" sz="2800" dirty="0"/>
              <a:t>Develop a user authentication system for secure access.</a:t>
            </a:r>
          </a:p>
          <a:p>
            <a:pPr algn="just"/>
            <a:r>
              <a:rPr lang="en-US" sz="2800" b="1" dirty="0"/>
              <a:t>CRUD Operations:</a:t>
            </a:r>
            <a:r>
              <a:rPr lang="en-US" sz="2800" dirty="0"/>
              <a:t> Implement Create, Read, Update, and Delete (CRUD) functionalities for content management.</a:t>
            </a:r>
          </a:p>
          <a:p>
            <a:pPr algn="just"/>
            <a:r>
              <a:rPr lang="en-US" sz="2800" b="1" dirty="0"/>
              <a:t>Admin Dashboard:</a:t>
            </a:r>
            <a:r>
              <a:rPr lang="en-US" sz="2800" dirty="0"/>
              <a:t> Design an admin dashboard for managing content.</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8" y="6470704"/>
            <a:ext cx="9720072" cy="247337"/>
          </a:xfrm>
        </p:spPr>
        <p:txBody>
          <a:bodyPr/>
          <a:lstStyle/>
          <a:p>
            <a:pPr algn="l"/>
            <a:r>
              <a:rPr lang="en-US" dirty="0"/>
              <a:t>https://manoj-shu100.medium.com/building-a-content-management-system-cms-with-php-a-step-by-step-guide-31dcec2d9716</a:t>
            </a:r>
          </a:p>
        </p:txBody>
      </p:sp>
    </p:spTree>
    <p:extLst>
      <p:ext uri="{BB962C8B-B14F-4D97-AF65-F5344CB8AC3E}">
        <p14:creationId xmlns:p14="http://schemas.microsoft.com/office/powerpoint/2010/main" val="1490344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creating the database</a:t>
            </a:r>
          </a:p>
        </p:txBody>
      </p:sp>
      <p:sp>
        <p:nvSpPr>
          <p:cNvPr id="4" name="Content Placeholder 3">
            <a:extLst>
              <a:ext uri="{FF2B5EF4-FFF2-40B4-BE49-F238E27FC236}">
                <a16:creationId xmlns:a16="http://schemas.microsoft.com/office/drawing/2014/main" id="{AD577F63-FEBB-46D6-9EE1-E1E1BD2B6CDE}"/>
              </a:ext>
            </a:extLst>
          </p:cNvPr>
          <p:cNvSpPr>
            <a:spLocks noGrp="1"/>
          </p:cNvSpPr>
          <p:nvPr>
            <p:ph sz="half" idx="1"/>
          </p:nvPr>
        </p:nvSpPr>
        <p:spPr/>
        <p:txBody>
          <a:bodyPr/>
          <a:lstStyle/>
          <a:p>
            <a:endParaRPr lang="en-US"/>
          </a:p>
        </p:txBody>
      </p:sp>
      <p:sp>
        <p:nvSpPr>
          <p:cNvPr id="5" name="Content Placeholder 4">
            <a:extLst>
              <a:ext uri="{FF2B5EF4-FFF2-40B4-BE49-F238E27FC236}">
                <a16:creationId xmlns:a16="http://schemas.microsoft.com/office/drawing/2014/main" id="{E6F1859C-78A4-4CC3-9D29-43708CEFC511}"/>
              </a:ext>
            </a:extLst>
          </p:cNvPr>
          <p:cNvSpPr>
            <a:spLocks noGrp="1"/>
          </p:cNvSpPr>
          <p:nvPr>
            <p:ph sz="half" idx="2"/>
          </p:nvPr>
        </p:nvSpPr>
        <p:spPr/>
        <p:txBody>
          <a:bodyPr/>
          <a:lstStyle/>
          <a:p>
            <a:endParaRPr lang="en-US"/>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8" y="6470704"/>
            <a:ext cx="9720264" cy="210014"/>
          </a:xfrm>
        </p:spPr>
        <p:txBody>
          <a:bodyPr/>
          <a:lstStyle/>
          <a:p>
            <a:pPr algn="l"/>
            <a:r>
              <a:rPr lang="en-US" dirty="0"/>
              <a:t>https://manoj-shu100.medium.com/building-a-content-management-system-cms-with-php-a-step-by-step-guide-31dcec2d9716</a:t>
            </a:r>
          </a:p>
        </p:txBody>
      </p:sp>
      <p:pic>
        <p:nvPicPr>
          <p:cNvPr id="3" name="Picture 2">
            <a:extLst>
              <a:ext uri="{FF2B5EF4-FFF2-40B4-BE49-F238E27FC236}">
                <a16:creationId xmlns:a16="http://schemas.microsoft.com/office/drawing/2014/main" id="{2E90B2D9-7A19-4680-9D0E-BC3833D5B5CF}"/>
              </a:ext>
            </a:extLst>
          </p:cNvPr>
          <p:cNvPicPr>
            <a:picLocks noChangeAspect="1"/>
          </p:cNvPicPr>
          <p:nvPr/>
        </p:nvPicPr>
        <p:blipFill>
          <a:blip r:embed="rId2"/>
          <a:stretch>
            <a:fillRect/>
          </a:stretch>
        </p:blipFill>
        <p:spPr>
          <a:xfrm>
            <a:off x="1005467" y="2286000"/>
            <a:ext cx="5071872" cy="4023360"/>
          </a:xfrm>
          <a:prstGeom prst="rect">
            <a:avLst/>
          </a:prstGeom>
        </p:spPr>
      </p:pic>
      <p:pic>
        <p:nvPicPr>
          <p:cNvPr id="7" name="Picture 6">
            <a:extLst>
              <a:ext uri="{FF2B5EF4-FFF2-40B4-BE49-F238E27FC236}">
                <a16:creationId xmlns:a16="http://schemas.microsoft.com/office/drawing/2014/main" id="{E6C95074-DD95-4AE1-88EE-C398268B0E72}"/>
              </a:ext>
            </a:extLst>
          </p:cNvPr>
          <p:cNvPicPr>
            <a:picLocks noChangeAspect="1"/>
          </p:cNvPicPr>
          <p:nvPr/>
        </p:nvPicPr>
        <p:blipFill>
          <a:blip r:embed="rId3"/>
          <a:stretch>
            <a:fillRect/>
          </a:stretch>
        </p:blipFill>
        <p:spPr>
          <a:xfrm>
            <a:off x="6114661" y="2304661"/>
            <a:ext cx="4754880" cy="4023360"/>
          </a:xfrm>
          <a:prstGeom prst="rect">
            <a:avLst/>
          </a:prstGeom>
        </p:spPr>
      </p:pic>
    </p:spTree>
    <p:extLst>
      <p:ext uri="{BB962C8B-B14F-4D97-AF65-F5344CB8AC3E}">
        <p14:creationId xmlns:p14="http://schemas.microsoft.com/office/powerpoint/2010/main" val="2713315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developing the front end</a:t>
            </a:r>
          </a:p>
        </p:txBody>
      </p:sp>
      <p:sp>
        <p:nvSpPr>
          <p:cNvPr id="6" name="Content Placeholder 5">
            <a:extLst>
              <a:ext uri="{FF2B5EF4-FFF2-40B4-BE49-F238E27FC236}">
                <a16:creationId xmlns:a16="http://schemas.microsoft.com/office/drawing/2014/main" id="{277BD69F-1642-4056-B857-B69B5C9EA81D}"/>
              </a:ext>
            </a:extLst>
          </p:cNvPr>
          <p:cNvSpPr>
            <a:spLocks noGrp="1"/>
          </p:cNvSpPr>
          <p:nvPr>
            <p:ph idx="1"/>
          </p:nvPr>
        </p:nvSpPr>
        <p:spPr/>
        <p:txBody>
          <a:bodyPr>
            <a:normAutofit/>
          </a:bodyPr>
          <a:lstStyle/>
          <a:p>
            <a:pPr algn="just"/>
            <a:r>
              <a:rPr lang="en-US" sz="2800" b="1" dirty="0"/>
              <a:t>HTML/CSS Templates: </a:t>
            </a:r>
            <a:r>
              <a:rPr lang="en-US" sz="2800" dirty="0"/>
              <a:t>Create HTML templates and style them with CSS.</a:t>
            </a:r>
          </a:p>
          <a:p>
            <a:pPr algn="just"/>
            <a:r>
              <a:rPr lang="en-US" sz="2800" b="1" dirty="0"/>
              <a:t>Displaying Content: </a:t>
            </a:r>
            <a:r>
              <a:rPr lang="en-US" sz="2800" dirty="0"/>
              <a:t>Write PHP scripts to fetch and display content from the database on web pages.</a:t>
            </a:r>
          </a:p>
          <a:p>
            <a:pPr algn="just"/>
            <a:r>
              <a:rPr lang="en-US" sz="2800" b="1" dirty="0"/>
              <a:t>User Interface:</a:t>
            </a:r>
            <a:r>
              <a:rPr lang="en-US" sz="2800" dirty="0"/>
              <a:t> Ensure the user interface is intuitive and user-friendly.</a:t>
            </a:r>
          </a:p>
          <a:p>
            <a:pPr algn="just"/>
            <a:endParaRPr lang="en-US" sz="2800" dirty="0"/>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Tree>
    <p:extLst>
      <p:ext uri="{BB962C8B-B14F-4D97-AF65-F5344CB8AC3E}">
        <p14:creationId xmlns:p14="http://schemas.microsoft.com/office/powerpoint/2010/main" val="118093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developing the front end</a:t>
            </a:r>
          </a:p>
        </p:txBody>
      </p:sp>
      <p:sp>
        <p:nvSpPr>
          <p:cNvPr id="6" name="Content Placeholder 5">
            <a:extLst>
              <a:ext uri="{FF2B5EF4-FFF2-40B4-BE49-F238E27FC236}">
                <a16:creationId xmlns:a16="http://schemas.microsoft.com/office/drawing/2014/main" id="{277BD69F-1642-4056-B857-B69B5C9EA81D}"/>
              </a:ext>
            </a:extLst>
          </p:cNvPr>
          <p:cNvSpPr>
            <a:spLocks noGrp="1"/>
          </p:cNvSpPr>
          <p:nvPr>
            <p:ph idx="1"/>
          </p:nvPr>
        </p:nvSpPr>
        <p:spPr/>
        <p:txBody>
          <a:bodyPr>
            <a:normAutofit/>
          </a:bodyPr>
          <a:lstStyle/>
          <a:p>
            <a:pPr algn="just"/>
            <a:endParaRPr lang="en-US" sz="2800" dirty="0"/>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pic>
        <p:nvPicPr>
          <p:cNvPr id="5" name="Picture 2" descr="Diagram of common CMS architecture design patterns for CMS web design">
            <a:extLst>
              <a:ext uri="{FF2B5EF4-FFF2-40B4-BE49-F238E27FC236}">
                <a16:creationId xmlns:a16="http://schemas.microsoft.com/office/drawing/2014/main" id="{5BEA3894-5FE7-4DFB-926F-809BCAE75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275" y="2246177"/>
            <a:ext cx="7757450" cy="4059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612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developing the front end</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lstStyle/>
          <a:p>
            <a:endParaRPr lang="en-US"/>
          </a:p>
        </p:txBody>
      </p:sp>
      <p:pic>
        <p:nvPicPr>
          <p:cNvPr id="3076" name="Picture 4" descr="matx react admin dashboard pro">
            <a:extLst>
              <a:ext uri="{FF2B5EF4-FFF2-40B4-BE49-F238E27FC236}">
                <a16:creationId xmlns:a16="http://schemas.microsoft.com/office/drawing/2014/main" id="{248A475C-FDDC-4966-83F9-7E72D039E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722" y="2084832"/>
            <a:ext cx="6516556" cy="4595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39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integrating rich text editor</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Choose an Editor: </a:t>
            </a:r>
            <a:r>
              <a:rPr lang="en-US" sz="2800" dirty="0"/>
              <a:t>Select a rich text editor like </a:t>
            </a:r>
            <a:r>
              <a:rPr lang="en-US" sz="2800" dirty="0" err="1"/>
              <a:t>TinyMCE</a:t>
            </a:r>
            <a:r>
              <a:rPr lang="en-US" sz="2800" dirty="0"/>
              <a:t> or </a:t>
            </a:r>
            <a:r>
              <a:rPr lang="en-US" sz="2800" dirty="0" err="1"/>
              <a:t>CKEditor</a:t>
            </a:r>
            <a:r>
              <a:rPr lang="en-US" sz="2800" dirty="0"/>
              <a:t>.</a:t>
            </a:r>
          </a:p>
          <a:p>
            <a:pPr algn="just"/>
            <a:r>
              <a:rPr lang="en-US" sz="2800" b="1" dirty="0"/>
              <a:t>Integration:</a:t>
            </a:r>
            <a:r>
              <a:rPr lang="en-US" sz="2800" dirty="0"/>
              <a:t> Embed the editor in your CMS for a better </a:t>
            </a:r>
            <a:r>
              <a:rPr lang="en-US" sz="2800" u="sng" dirty="0">
                <a:hlinkClick r:id="rId2"/>
              </a:rPr>
              <a:t>content creation</a:t>
            </a:r>
            <a:r>
              <a:rPr lang="en-US" sz="2800" dirty="0"/>
              <a:t> experience.</a:t>
            </a:r>
          </a:p>
          <a:p>
            <a:endParaRPr lang="en-US" sz="2800" dirty="0"/>
          </a:p>
        </p:txBody>
      </p:sp>
    </p:spTree>
    <p:extLst>
      <p:ext uri="{BB962C8B-B14F-4D97-AF65-F5344CB8AC3E}">
        <p14:creationId xmlns:p14="http://schemas.microsoft.com/office/powerpoint/2010/main" val="2172903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integrating rich text editor</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endParaRPr lang="en-US" sz="2800" dirty="0"/>
          </a:p>
        </p:txBody>
      </p:sp>
      <p:pic>
        <p:nvPicPr>
          <p:cNvPr id="10242" name="Picture 2" descr="Specific functionalities or features within the Froala Editor.">
            <a:extLst>
              <a:ext uri="{FF2B5EF4-FFF2-40B4-BE49-F238E27FC236}">
                <a16:creationId xmlns:a16="http://schemas.microsoft.com/office/drawing/2014/main" id="{E9A5F8E4-659A-4465-83DC-538353438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1520" y="2305482"/>
            <a:ext cx="7688959" cy="4065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93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integrating rich text editor</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endParaRPr lang="en-US" sz="2800" dirty="0"/>
          </a:p>
        </p:txBody>
      </p:sp>
      <p:pic>
        <p:nvPicPr>
          <p:cNvPr id="13314" name="Picture 2" descr="RichTextEditor">
            <a:extLst>
              <a:ext uri="{FF2B5EF4-FFF2-40B4-BE49-F238E27FC236}">
                <a16:creationId xmlns:a16="http://schemas.microsoft.com/office/drawing/2014/main" id="{AB0844D4-0C59-4437-9FDF-BAEED31EF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5625" y="2286000"/>
            <a:ext cx="7960750" cy="4023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30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implementing security measures</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Input Validation:</a:t>
            </a:r>
            <a:r>
              <a:rPr lang="en-US" sz="2800" dirty="0"/>
              <a:t> Implement input validation to prevent SQL injection and XSS attacks.</a:t>
            </a:r>
          </a:p>
          <a:p>
            <a:pPr algn="just"/>
            <a:r>
              <a:rPr lang="en-US" sz="2800" b="1" dirty="0"/>
              <a:t>Password Security: </a:t>
            </a:r>
            <a:r>
              <a:rPr lang="en-US" sz="2800" dirty="0"/>
              <a:t>Use PHP’s password hashing functions for secure password storage.</a:t>
            </a:r>
          </a:p>
          <a:p>
            <a:pPr algn="just"/>
            <a:r>
              <a:rPr lang="en-US" sz="2800" b="1" dirty="0"/>
              <a:t>Secure Sessions:</a:t>
            </a:r>
            <a:r>
              <a:rPr lang="en-US" sz="2800" dirty="0"/>
              <a:t> Ensure that user sessions are managed securely.</a:t>
            </a:r>
          </a:p>
          <a:p>
            <a:pPr algn="just"/>
            <a:endParaRPr lang="en-US" sz="2800" dirty="0"/>
          </a:p>
        </p:txBody>
      </p:sp>
    </p:spTree>
    <p:extLst>
      <p:ext uri="{BB962C8B-B14F-4D97-AF65-F5344CB8AC3E}">
        <p14:creationId xmlns:p14="http://schemas.microsoft.com/office/powerpoint/2010/main" val="1565684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testing the </a:t>
            </a:r>
            <a:r>
              <a:rPr lang="en-US" dirty="0" err="1"/>
              <a:t>cms</a:t>
            </a:r>
            <a:endParaRPr lang="en-US" dirty="0"/>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Functionality Testing:</a:t>
            </a:r>
            <a:r>
              <a:rPr lang="en-US" sz="2800" dirty="0"/>
              <a:t> Test all features extensively to ensure they work as intended.</a:t>
            </a:r>
          </a:p>
          <a:p>
            <a:pPr algn="just"/>
            <a:r>
              <a:rPr lang="en-US" sz="2800" b="1" dirty="0"/>
              <a:t>Performance Testing: </a:t>
            </a:r>
            <a:r>
              <a:rPr lang="en-US" sz="2800" dirty="0"/>
              <a:t>Check the loading times and responsiveness of your CMS.</a:t>
            </a:r>
          </a:p>
          <a:p>
            <a:pPr algn="just"/>
            <a:r>
              <a:rPr lang="en-US" sz="2800" b="1" dirty="0"/>
              <a:t>Security Testing:</a:t>
            </a:r>
            <a:r>
              <a:rPr lang="en-US" sz="2800" dirty="0"/>
              <a:t> Perform security audits to identify vulnerabilities.</a:t>
            </a:r>
          </a:p>
          <a:p>
            <a:pPr algn="just"/>
            <a:endParaRPr lang="en-US" sz="2800" dirty="0"/>
          </a:p>
        </p:txBody>
      </p:sp>
    </p:spTree>
    <p:extLst>
      <p:ext uri="{BB962C8B-B14F-4D97-AF65-F5344CB8AC3E}">
        <p14:creationId xmlns:p14="http://schemas.microsoft.com/office/powerpoint/2010/main" val="4185831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deploying the </a:t>
            </a:r>
            <a:r>
              <a:rPr lang="en-US" dirty="0" err="1"/>
              <a:t>cms</a:t>
            </a:r>
            <a:endParaRPr lang="en-US" dirty="0"/>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Choose a Hosting Service: </a:t>
            </a:r>
            <a:r>
              <a:rPr lang="en-US" sz="2800" dirty="0"/>
              <a:t>Select a web hosting provider that supports PHP and MySQL.</a:t>
            </a:r>
          </a:p>
          <a:p>
            <a:pPr algn="just"/>
            <a:r>
              <a:rPr lang="en-US" sz="2800" b="1" dirty="0"/>
              <a:t>Upload Files:</a:t>
            </a:r>
            <a:r>
              <a:rPr lang="en-US" sz="2800" dirty="0"/>
              <a:t> Use FTP or a similar service to upload your CMS files to the server.</a:t>
            </a:r>
          </a:p>
          <a:p>
            <a:pPr algn="just"/>
            <a:r>
              <a:rPr lang="en-US" sz="2800" b="1" dirty="0"/>
              <a:t>Configure Database:</a:t>
            </a:r>
            <a:r>
              <a:rPr lang="en-US" sz="2800" dirty="0"/>
              <a:t> Set up your MySQL database on the hosting service and import your local database.</a:t>
            </a:r>
          </a:p>
          <a:p>
            <a:pPr algn="just"/>
            <a:endParaRPr lang="en-US" sz="2800" dirty="0"/>
          </a:p>
        </p:txBody>
      </p:sp>
    </p:spTree>
    <p:extLst>
      <p:ext uri="{BB962C8B-B14F-4D97-AF65-F5344CB8AC3E}">
        <p14:creationId xmlns:p14="http://schemas.microsoft.com/office/powerpoint/2010/main" val="523041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maintaining and updating </a:t>
            </a:r>
            <a:r>
              <a:rPr lang="en-US" dirty="0" err="1"/>
              <a:t>cms</a:t>
            </a:r>
            <a:endParaRPr lang="en-US" dirty="0"/>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Regular Updates:</a:t>
            </a:r>
            <a:r>
              <a:rPr lang="en-US" sz="2800" dirty="0"/>
              <a:t> Keep your PHP version and plugins updated for security and performance.</a:t>
            </a:r>
          </a:p>
          <a:p>
            <a:pPr algn="just"/>
            <a:r>
              <a:rPr lang="en-US" sz="2800" b="1" dirty="0"/>
              <a:t>Backup:</a:t>
            </a:r>
            <a:r>
              <a:rPr lang="en-US" sz="2800" dirty="0"/>
              <a:t> Regularly backup your CMS database and files.</a:t>
            </a:r>
          </a:p>
          <a:p>
            <a:pPr algn="just"/>
            <a:r>
              <a:rPr lang="en-US" sz="2800" b="1" dirty="0"/>
              <a:t>User Feedback: </a:t>
            </a:r>
            <a:r>
              <a:rPr lang="en-US" sz="2800" dirty="0"/>
              <a:t>Collect feedback from users and make improvements accordingly.</a:t>
            </a:r>
          </a:p>
          <a:p>
            <a:pPr algn="just"/>
            <a:endParaRPr lang="en-US" sz="2800" dirty="0"/>
          </a:p>
        </p:txBody>
      </p:sp>
    </p:spTree>
    <p:extLst>
      <p:ext uri="{BB962C8B-B14F-4D97-AF65-F5344CB8AC3E}">
        <p14:creationId xmlns:p14="http://schemas.microsoft.com/office/powerpoint/2010/main" val="978959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advanced features and customization</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b="1" dirty="0"/>
              <a:t>Plugins and Extensions: </a:t>
            </a:r>
            <a:r>
              <a:rPr lang="en-US" sz="2800" dirty="0"/>
              <a:t>Consider developing plugins for added functionalities.</a:t>
            </a:r>
          </a:p>
          <a:p>
            <a:pPr algn="just"/>
            <a:r>
              <a:rPr lang="en-US" sz="2800" b="1" dirty="0"/>
              <a:t>Themes:</a:t>
            </a:r>
            <a:r>
              <a:rPr lang="en-US" sz="2800" dirty="0"/>
              <a:t> Implement a theming system to allow for visual customizations.</a:t>
            </a:r>
          </a:p>
          <a:p>
            <a:pPr algn="just"/>
            <a:r>
              <a:rPr lang="en-US" sz="2800" b="1" dirty="0"/>
              <a:t>SEO Optimization: </a:t>
            </a:r>
            <a:r>
              <a:rPr lang="en-US" sz="2800" dirty="0"/>
              <a:t>Add features to enhance the SEO of content created with your CMS.</a:t>
            </a:r>
          </a:p>
          <a:p>
            <a:pPr algn="just"/>
            <a:endParaRPr lang="en-US" sz="2800" dirty="0"/>
          </a:p>
        </p:txBody>
      </p:sp>
    </p:spTree>
    <p:extLst>
      <p:ext uri="{BB962C8B-B14F-4D97-AF65-F5344CB8AC3E}">
        <p14:creationId xmlns:p14="http://schemas.microsoft.com/office/powerpoint/2010/main" val="2574725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75-3DC6-4E40-9ABE-E6B8B725025D}"/>
              </a:ext>
            </a:extLst>
          </p:cNvPr>
          <p:cNvSpPr>
            <a:spLocks noGrp="1"/>
          </p:cNvSpPr>
          <p:nvPr>
            <p:ph type="title"/>
          </p:nvPr>
        </p:nvSpPr>
        <p:spPr/>
        <p:txBody>
          <a:bodyPr/>
          <a:lstStyle/>
          <a:p>
            <a:r>
              <a:rPr lang="en-US" dirty="0"/>
              <a:t>Building your own </a:t>
            </a:r>
            <a:r>
              <a:rPr lang="en-US" dirty="0" err="1"/>
              <a:t>cms</a:t>
            </a:r>
            <a:r>
              <a:rPr lang="en-US" dirty="0"/>
              <a:t> | conclusion</a:t>
            </a:r>
          </a:p>
        </p:txBody>
      </p:sp>
      <p:sp>
        <p:nvSpPr>
          <p:cNvPr id="9" name="Footer Placeholder 3">
            <a:extLst>
              <a:ext uri="{FF2B5EF4-FFF2-40B4-BE49-F238E27FC236}">
                <a16:creationId xmlns:a16="http://schemas.microsoft.com/office/drawing/2014/main" id="{495E21F8-75E4-4394-8B57-9CD5E2BAF099}"/>
              </a:ext>
            </a:extLst>
          </p:cNvPr>
          <p:cNvSpPr>
            <a:spLocks noGrp="1"/>
          </p:cNvSpPr>
          <p:nvPr>
            <p:ph type="ftr" sz="quarter" idx="11"/>
          </p:nvPr>
        </p:nvSpPr>
        <p:spPr>
          <a:xfrm>
            <a:off x="1024129" y="6470705"/>
            <a:ext cx="9720072" cy="210014"/>
          </a:xfrm>
        </p:spPr>
        <p:txBody>
          <a:bodyPr/>
          <a:lstStyle/>
          <a:p>
            <a:pPr algn="l"/>
            <a:r>
              <a:rPr lang="en-US" dirty="0"/>
              <a:t>https://manoj-shu100.medium.com/building-a-content-management-system-cms-with-php-a-step-by-step-guide-31dcec2d9716</a:t>
            </a:r>
          </a:p>
        </p:txBody>
      </p:sp>
      <p:sp>
        <p:nvSpPr>
          <p:cNvPr id="4" name="Content Placeholder 3">
            <a:extLst>
              <a:ext uri="{FF2B5EF4-FFF2-40B4-BE49-F238E27FC236}">
                <a16:creationId xmlns:a16="http://schemas.microsoft.com/office/drawing/2014/main" id="{7D7F8661-5D14-433A-8AC0-30C3B214FFCD}"/>
              </a:ext>
            </a:extLst>
          </p:cNvPr>
          <p:cNvSpPr>
            <a:spLocks noGrp="1"/>
          </p:cNvSpPr>
          <p:nvPr>
            <p:ph idx="1"/>
          </p:nvPr>
        </p:nvSpPr>
        <p:spPr/>
        <p:txBody>
          <a:bodyPr>
            <a:normAutofit/>
          </a:bodyPr>
          <a:lstStyle/>
          <a:p>
            <a:pPr algn="just"/>
            <a:r>
              <a:rPr lang="en-US" sz="2800" dirty="0"/>
              <a:t>Building a CMS with PHP is a rewarding project that not only improves your coding skills but also gives you complete control over your web content management. While the process requires time and effort, the end result is a tailor-made CMS perfectly suited to your specific needs. This step-by-step guide provides a solid foundation, but remember, the world of web development is always evolving. Stay curious, keep learning, and continue to enhance your CMS with new features and technologies as you grow.</a:t>
            </a:r>
          </a:p>
        </p:txBody>
      </p:sp>
    </p:spTree>
    <p:extLst>
      <p:ext uri="{BB962C8B-B14F-4D97-AF65-F5344CB8AC3E}">
        <p14:creationId xmlns:p14="http://schemas.microsoft.com/office/powerpoint/2010/main" val="152932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70</TotalTime>
  <Words>588</Words>
  <Application>Microsoft Office PowerPoint</Application>
  <PresentationFormat>Widescreen</PresentationFormat>
  <Paragraphs>80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Tw Cen MT</vt:lpstr>
      <vt:lpstr>Tw Cen MT Condensed</vt:lpstr>
      <vt:lpstr>Wingdings 3</vt:lpstr>
      <vt:lpstr>Integral</vt:lpstr>
      <vt:lpstr>ITP219</vt:lpstr>
      <vt:lpstr>Building your own cms</vt:lpstr>
      <vt:lpstr>Building your own cms</vt:lpstr>
      <vt:lpstr>Building your own cms</vt:lpstr>
      <vt:lpstr>Building your own cms | SETTING UP THE DEVELOPMENT ENVIRONMENT</vt:lpstr>
      <vt:lpstr>Building your own cms | planning your cms</vt:lpstr>
      <vt:lpstr>Building your own cms | creating the database</vt:lpstr>
      <vt:lpstr>Building your own cms | creating the database</vt:lpstr>
      <vt:lpstr>Building your own cms | developing the front end</vt:lpstr>
      <vt:lpstr>Building your own cms | developing the front end</vt:lpstr>
      <vt:lpstr>Building your own cms | developing the front end</vt:lpstr>
      <vt:lpstr>Building your own cms | integrating rich text editor</vt:lpstr>
      <vt:lpstr>Building your own cms | integrating rich text editor</vt:lpstr>
      <vt:lpstr>Building your own cms | integrating rich text editor</vt:lpstr>
      <vt:lpstr>Building your own cms | implementing security measures</vt:lpstr>
      <vt:lpstr>Building your own cms | testing the cms</vt:lpstr>
      <vt:lpstr>Building your own cms | deploying the cms</vt:lpstr>
      <vt:lpstr>Building your own cms | maintaining and updating cms</vt:lpstr>
      <vt:lpstr>Building your own cms | advanced features and customization</vt:lpstr>
      <vt:lpstr>Building your own cms |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ITP219</dc:title>
  <dc:creator>Sunny Lopez</dc:creator>
  <cp:lastModifiedBy>Sunny Lopez</cp:lastModifiedBy>
  <cp:revision>46</cp:revision>
  <dcterms:created xsi:type="dcterms:W3CDTF">2024-08-11T23:47:52Z</dcterms:created>
  <dcterms:modified xsi:type="dcterms:W3CDTF">2024-08-26T13:52:09Z</dcterms:modified>
</cp:coreProperties>
</file>