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35" autoAdjust="0"/>
  </p:normalViewPr>
  <p:slideViewPr>
    <p:cSldViewPr snapToGrid="0" showGuides="1">
      <p:cViewPr varScale="1">
        <p:scale>
          <a:sx n="104" d="100"/>
          <a:sy n="104" d="100"/>
        </p:scale>
        <p:origin x="83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CCA1-0206-4C1D-8FBE-86A23A74177B}" type="datetimeFigureOut">
              <a:rPr lang="en-US" smtClean="0"/>
              <a:t>9/23/2024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FDB4D-3397-4AA1-8D41-D9AD934B9B18}" type="slidenum">
              <a:rPr lang="en-US" smtClean="0"/>
              <a:t>‹#›</a:t>
            </a:fld>
            <a:endParaRPr lang="en-US"/>
          </a:p>
        </p:txBody>
      </p:sp>
    </p:spTree>
    <p:extLst>
      <p:ext uri="{BB962C8B-B14F-4D97-AF65-F5344CB8AC3E}">
        <p14:creationId xmlns:p14="http://schemas.microsoft.com/office/powerpoint/2010/main" val="166525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DFDB4D-3397-4AA1-8D41-D9AD934B9B18}" type="slidenum">
              <a:rPr lang="en-US" smtClean="0"/>
              <a:t>2</a:t>
            </a:fld>
            <a:endParaRPr lang="en-US"/>
          </a:p>
        </p:txBody>
      </p:sp>
    </p:spTree>
    <p:extLst>
      <p:ext uri="{BB962C8B-B14F-4D97-AF65-F5344CB8AC3E}">
        <p14:creationId xmlns:p14="http://schemas.microsoft.com/office/powerpoint/2010/main" val="1818786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DFDB4D-3397-4AA1-8D41-D9AD934B9B18}" type="slidenum">
              <a:rPr lang="en-US" smtClean="0"/>
              <a:t>4</a:t>
            </a:fld>
            <a:endParaRPr lang="en-US"/>
          </a:p>
        </p:txBody>
      </p:sp>
    </p:spTree>
    <p:extLst>
      <p:ext uri="{BB962C8B-B14F-4D97-AF65-F5344CB8AC3E}">
        <p14:creationId xmlns:p14="http://schemas.microsoft.com/office/powerpoint/2010/main" val="1128529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063643D-8225-4F8C-BFF8-7176355E8E39}" type="datetime1">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49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A810AF-B02B-40F7-B5DD-ABA697D23FD4}" type="datetime1">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40834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E84F92-1261-40D3-BECE-5835445D8F52}" type="datetime1">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2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FEE61-7D9C-43E3-A238-39CD016EC32B}" type="datetime1">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883360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76E5C-37F1-464C-9A14-6B7507BA541B}" type="datetime1">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97015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766F6-3E6C-4C81-90FD-E9629BB9934D}" type="datetime1">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70108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8E9D-D5A2-40EF-BC93-DFAED5D9D2E6}" type="datetime1">
              <a:rPr lang="en-US" smtClean="0"/>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586365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ADD9D5-CBD3-4DEB-8BEC-2AE65EA3D268}" type="datetime1">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13803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BC6E84-C897-4226-918D-928DB6D1B8A4}" type="datetime1">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01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87322-9529-4649-8C81-2A65251FCFA6}" type="datetime1">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00489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B2D477-07A8-477B-8D07-61CCC236A38A}" type="datetime1">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A5BEEE-4335-4DF4-AD26-2272FBA491A1}" type="datetime1">
              <a:rPr lang="en-US" smtClean="0"/>
              <a:t>9/23/2024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23CED-E8B2-4C87-9FAC-E88E7AD8180A}"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83911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digital4design.com/web-development-company/"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help.one.com/hc/en-us/articles/360000314205-How-do-I-install-WordPress-manually#step-7" TargetMode="External"/><Relationship Id="rId3" Type="http://schemas.openxmlformats.org/officeDocument/2006/relationships/hyperlink" Target="https://help.one.com/hc/en-us/articles/360000314205-How-do-I-install-WordPress-manually#step-2" TargetMode="External"/><Relationship Id="rId7" Type="http://schemas.openxmlformats.org/officeDocument/2006/relationships/hyperlink" Target="https://help.one.com/hc/en-us/articles/360000314205-How-do-I-install-WordPress-manually#step-6" TargetMode="External"/><Relationship Id="rId2" Type="http://schemas.openxmlformats.org/officeDocument/2006/relationships/hyperlink" Target="https://help.one.com/hc/en-us/articles/360000314205-How-do-I-install-WordPress-manually#step-1" TargetMode="External"/><Relationship Id="rId1" Type="http://schemas.openxmlformats.org/officeDocument/2006/relationships/slideLayout" Target="../slideLayouts/slideLayout2.xml"/><Relationship Id="rId6" Type="http://schemas.openxmlformats.org/officeDocument/2006/relationships/hyperlink" Target="https://help.one.com/hc/en-us/articles/360000314205-How-do-I-install-WordPress-manually#step-5" TargetMode="External"/><Relationship Id="rId5" Type="http://schemas.openxmlformats.org/officeDocument/2006/relationships/hyperlink" Target="https://help.one.com/hc/en-us/articles/360000314205-How-do-I-install-WordPress-manually#step-4" TargetMode="External"/><Relationship Id="rId4" Type="http://schemas.openxmlformats.org/officeDocument/2006/relationships/hyperlink" Target="https://help.one.com/hc/en-us/articles/360000314205-How-do-I-install-WordPress-manually#step-3" TargetMode="External"/><Relationship Id="rId9" Type="http://schemas.openxmlformats.org/officeDocument/2006/relationships/hyperlink" Target="https://help.one.com/hc/en-us/articles/360000314205-How-do-I-install-WordPress-manually#step-8"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help.one.com/hc/en-us/articles/360000314205-How-do-I-install-WordPress-manually#step-10" TargetMode="External"/><Relationship Id="rId2" Type="http://schemas.openxmlformats.org/officeDocument/2006/relationships/hyperlink" Target="https://help.one.com/hc/en-us/articles/360000314205-How-do-I-install-WordPress-manually#step-9" TargetMode="External"/><Relationship Id="rId1" Type="http://schemas.openxmlformats.org/officeDocument/2006/relationships/slideLayout" Target="../slideLayouts/slideLayout2.xml"/><Relationship Id="rId6" Type="http://schemas.openxmlformats.org/officeDocument/2006/relationships/hyperlink" Target="https://help.one.com/hc/en-us/articles/360000314205-How-do-I-install-WordPress-manually#step-13" TargetMode="External"/><Relationship Id="rId5" Type="http://schemas.openxmlformats.org/officeDocument/2006/relationships/hyperlink" Target="https://help.one.com/hc/en-us/articles/360000314205-How-do-I-install-WordPress-manually#step-12" TargetMode="External"/><Relationship Id="rId4" Type="http://schemas.openxmlformats.org/officeDocument/2006/relationships/hyperlink" Target="https://help.one.com/hc/en-us/articles/360000314205-How-do-I-install-WordPress-manually#step-1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63A5-3690-451A-A791-38751893C286}"/>
              </a:ext>
            </a:extLst>
          </p:cNvPr>
          <p:cNvSpPr>
            <a:spLocks noGrp="1"/>
          </p:cNvSpPr>
          <p:nvPr>
            <p:ph type="ctrTitle"/>
          </p:nvPr>
        </p:nvSpPr>
        <p:spPr/>
        <p:txBody>
          <a:bodyPr/>
          <a:lstStyle/>
          <a:p>
            <a:r>
              <a:rPr lang="en-US" dirty="0"/>
              <a:t>ITP219</a:t>
            </a:r>
          </a:p>
        </p:txBody>
      </p:sp>
      <p:sp>
        <p:nvSpPr>
          <p:cNvPr id="3" name="Subtitle 2">
            <a:extLst>
              <a:ext uri="{FF2B5EF4-FFF2-40B4-BE49-F238E27FC236}">
                <a16:creationId xmlns:a16="http://schemas.microsoft.com/office/drawing/2014/main" id="{1258704A-3D89-4CB1-B536-1B269A9478AD}"/>
              </a:ext>
            </a:extLst>
          </p:cNvPr>
          <p:cNvSpPr>
            <a:spLocks noGrp="1"/>
          </p:cNvSpPr>
          <p:nvPr>
            <p:ph type="subTitle" idx="1"/>
          </p:nvPr>
        </p:nvSpPr>
        <p:spPr/>
        <p:txBody>
          <a:bodyPr/>
          <a:lstStyle/>
          <a:p>
            <a:r>
              <a:rPr lang="en-US" dirty="0"/>
              <a:t>CONTENT MANAGEMENT SYSTEM | WEEK 4</a:t>
            </a:r>
          </a:p>
        </p:txBody>
      </p:sp>
      <p:sp>
        <p:nvSpPr>
          <p:cNvPr id="4" name="Footer Placeholder 3">
            <a:extLst>
              <a:ext uri="{FF2B5EF4-FFF2-40B4-BE49-F238E27FC236}">
                <a16:creationId xmlns:a16="http://schemas.microsoft.com/office/drawing/2014/main" id="{38C4FE9A-307E-4243-915C-91BE0E3227F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51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238C-44FE-4731-B65A-7459D5CD60A7}"/>
              </a:ext>
            </a:extLst>
          </p:cNvPr>
          <p:cNvSpPr>
            <a:spLocks noGrp="1"/>
          </p:cNvSpPr>
          <p:nvPr>
            <p:ph type="title"/>
          </p:nvPr>
        </p:nvSpPr>
        <p:spPr/>
        <p:txBody>
          <a:bodyPr/>
          <a:lstStyle/>
          <a:p>
            <a:r>
              <a:rPr lang="en-US" dirty="0"/>
              <a:t>PREBUILT OR CUSTOM CMS?</a:t>
            </a:r>
          </a:p>
        </p:txBody>
      </p:sp>
      <p:sp>
        <p:nvSpPr>
          <p:cNvPr id="5" name="Content Placeholder 4">
            <a:extLst>
              <a:ext uri="{FF2B5EF4-FFF2-40B4-BE49-F238E27FC236}">
                <a16:creationId xmlns:a16="http://schemas.microsoft.com/office/drawing/2014/main" id="{88374700-4D21-4BC7-8B27-9D0E6B4825B0}"/>
              </a:ext>
            </a:extLst>
          </p:cNvPr>
          <p:cNvSpPr>
            <a:spLocks noGrp="1"/>
          </p:cNvSpPr>
          <p:nvPr>
            <p:ph idx="1"/>
          </p:nvPr>
        </p:nvSpPr>
        <p:spPr/>
        <p:txBody>
          <a:bodyPr>
            <a:normAutofit/>
          </a:bodyPr>
          <a:lstStyle/>
          <a:p>
            <a:pPr algn="just" fontAlgn="base"/>
            <a:r>
              <a:rPr lang="en-US" sz="2800" b="1" dirty="0"/>
              <a:t>Custom CMS Development:</a:t>
            </a:r>
            <a:r>
              <a:rPr lang="en-US" sz="2800" dirty="0"/>
              <a:t> This route involves building a CMS entirely from the ground up by a dedicated </a:t>
            </a:r>
            <a:r>
              <a:rPr lang="en-US" sz="2800" b="1" dirty="0">
                <a:hlinkClick r:id="rId3"/>
              </a:rPr>
              <a:t>web development company</a:t>
            </a:r>
            <a:r>
              <a:rPr lang="en-US" sz="2800" dirty="0"/>
              <a:t> – it offers complete control and flexibility.</a:t>
            </a:r>
          </a:p>
          <a:p>
            <a:pPr algn="just" fontAlgn="base"/>
            <a:r>
              <a:rPr lang="en-US" sz="2800" b="1" dirty="0"/>
              <a:t>Pre-built CMS Platforms:</a:t>
            </a:r>
            <a:r>
              <a:rPr lang="en-US" sz="2800" dirty="0"/>
              <a:t> These are established content management systems like WordPress, Drupal, or Joomla. They function like pre-built cars – familiar, readily available, and often more affordable.</a:t>
            </a:r>
          </a:p>
          <a:p>
            <a:pPr algn="just"/>
            <a:endParaRPr lang="en-US" sz="2800" dirty="0"/>
          </a:p>
        </p:txBody>
      </p:sp>
      <p:sp>
        <p:nvSpPr>
          <p:cNvPr id="4" name="Footer Placeholder 3">
            <a:extLst>
              <a:ext uri="{FF2B5EF4-FFF2-40B4-BE49-F238E27FC236}">
                <a16:creationId xmlns:a16="http://schemas.microsoft.com/office/drawing/2014/main" id="{5B6FD64C-7FB3-4061-9263-A1B3422B1ABE}"/>
              </a:ext>
            </a:extLst>
          </p:cNvPr>
          <p:cNvSpPr>
            <a:spLocks noGrp="1"/>
          </p:cNvSpPr>
          <p:nvPr>
            <p:ph type="ftr" sz="quarter" idx="11"/>
          </p:nvPr>
        </p:nvSpPr>
        <p:spPr>
          <a:xfrm>
            <a:off x="1024128" y="6470704"/>
            <a:ext cx="9720263" cy="387296"/>
          </a:xfrm>
        </p:spPr>
        <p:txBody>
          <a:bodyPr/>
          <a:lstStyle/>
          <a:p>
            <a:pPr algn="l"/>
            <a:r>
              <a:rPr lang="en-US" dirty="0"/>
              <a:t>https://www.digital4design.com/custom-cms-vs-pre-built-cms-which-is-right-for-your-business/#:~:text=Rapid%20Setup%3A%20With%20a%20vast,ease%20of%20use%20in%20mind.</a:t>
            </a:r>
          </a:p>
        </p:txBody>
      </p:sp>
    </p:spTree>
    <p:extLst>
      <p:ext uri="{BB962C8B-B14F-4D97-AF65-F5344CB8AC3E}">
        <p14:creationId xmlns:p14="http://schemas.microsoft.com/office/powerpoint/2010/main" val="704617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A615-34B8-4ECE-9B5F-619B8B498D8F}"/>
              </a:ext>
            </a:extLst>
          </p:cNvPr>
          <p:cNvSpPr>
            <a:spLocks noGrp="1"/>
          </p:cNvSpPr>
          <p:nvPr>
            <p:ph type="title"/>
          </p:nvPr>
        </p:nvSpPr>
        <p:spPr/>
        <p:txBody>
          <a:bodyPr/>
          <a:lstStyle/>
          <a:p>
            <a:r>
              <a:rPr lang="en-US" dirty="0"/>
              <a:t>ADVANTAGES OF CUSTOM CMS</a:t>
            </a:r>
          </a:p>
        </p:txBody>
      </p:sp>
      <p:sp>
        <p:nvSpPr>
          <p:cNvPr id="3" name="Content Placeholder 2">
            <a:extLst>
              <a:ext uri="{FF2B5EF4-FFF2-40B4-BE49-F238E27FC236}">
                <a16:creationId xmlns:a16="http://schemas.microsoft.com/office/drawing/2014/main" id="{48FC1E53-8E50-4BAB-8CD0-E611645063FB}"/>
              </a:ext>
            </a:extLst>
          </p:cNvPr>
          <p:cNvSpPr>
            <a:spLocks noGrp="1"/>
          </p:cNvSpPr>
          <p:nvPr>
            <p:ph idx="1"/>
          </p:nvPr>
        </p:nvSpPr>
        <p:spPr/>
        <p:txBody>
          <a:bodyPr>
            <a:normAutofit fontScale="92500" lnSpcReduction="20000"/>
          </a:bodyPr>
          <a:lstStyle/>
          <a:p>
            <a:pPr algn="just" fontAlgn="base"/>
            <a:r>
              <a:rPr lang="en-US" sz="2400" b="1" dirty="0"/>
              <a:t>Unique Features:</a:t>
            </a:r>
            <a:r>
              <a:rPr lang="en-US" sz="2400" dirty="0"/>
              <a:t> Custom CMS development allows you to define exactly the functionalities you need. Do you require a one-of-a-kind membership system or a content approval process specific to your industry? A custom CMS can be built to seamlessly integrate these features.</a:t>
            </a:r>
          </a:p>
          <a:p>
            <a:pPr algn="just" fontAlgn="base"/>
            <a:r>
              <a:rPr lang="en-US" sz="2400" b="1" dirty="0"/>
              <a:t>Scalability for Growth:</a:t>
            </a:r>
            <a:r>
              <a:rPr lang="en-US" sz="2400" dirty="0"/>
              <a:t> As your business grows and your content needs change by time, a custom CMS can effortlessly adapt. Custom development anticipates future needs and makes sure your CMS can scale alongside your ambitions.</a:t>
            </a:r>
          </a:p>
          <a:p>
            <a:pPr algn="just" fontAlgn="base"/>
            <a:r>
              <a:rPr lang="en-US" sz="2400" b="1" dirty="0"/>
              <a:t>Improved Security:</a:t>
            </a:r>
            <a:r>
              <a:rPr lang="en-US" sz="2400" dirty="0"/>
              <a:t> With a custom CMS, you have complete control over security protocols. This is especially important for businesses handling sensitive data or operating in highly regulated industries. A CMS web development company can implement strong security measures to protect your valuable information.</a:t>
            </a:r>
          </a:p>
          <a:p>
            <a:pPr algn="just" fontAlgn="base"/>
            <a:r>
              <a:rPr lang="en-US" sz="2400" b="1" dirty="0"/>
              <a:t>Distinct Brand Identity:</a:t>
            </a:r>
            <a:r>
              <a:rPr lang="en-US" sz="2400" dirty="0"/>
              <a:t> A custom CMS allows for complete design freedom. Your website becomes a true reflection of your brand, fostering a memorable user experience.</a:t>
            </a:r>
          </a:p>
          <a:p>
            <a:pPr algn="just"/>
            <a:endParaRPr lang="en-US" sz="2400" dirty="0"/>
          </a:p>
        </p:txBody>
      </p:sp>
      <p:sp>
        <p:nvSpPr>
          <p:cNvPr id="5" name="Footer Placeholder 3">
            <a:extLst>
              <a:ext uri="{FF2B5EF4-FFF2-40B4-BE49-F238E27FC236}">
                <a16:creationId xmlns:a16="http://schemas.microsoft.com/office/drawing/2014/main" id="{E473072C-D8B7-46E9-B29B-4D10E229F18E}"/>
              </a:ext>
            </a:extLst>
          </p:cNvPr>
          <p:cNvSpPr>
            <a:spLocks noGrp="1"/>
          </p:cNvSpPr>
          <p:nvPr>
            <p:ph type="ftr" sz="quarter" idx="11"/>
          </p:nvPr>
        </p:nvSpPr>
        <p:spPr>
          <a:xfrm>
            <a:off x="1024128" y="6470704"/>
            <a:ext cx="9720263" cy="387296"/>
          </a:xfrm>
        </p:spPr>
        <p:txBody>
          <a:bodyPr/>
          <a:lstStyle/>
          <a:p>
            <a:pPr algn="l"/>
            <a:r>
              <a:rPr lang="en-US" dirty="0"/>
              <a:t>https://www.digital4design.com/custom-cms-vs-pre-built-cms-which-is-right-for-your-business/#:~:text=Rapid%20Setup%3A%20With%20a%20vast,ease%20of%20use%20in%20mind.</a:t>
            </a:r>
          </a:p>
        </p:txBody>
      </p:sp>
    </p:spTree>
    <p:extLst>
      <p:ext uri="{BB962C8B-B14F-4D97-AF65-F5344CB8AC3E}">
        <p14:creationId xmlns:p14="http://schemas.microsoft.com/office/powerpoint/2010/main" val="790622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EE38-EEE0-460B-BF9B-D2C23ECDF9E9}"/>
              </a:ext>
            </a:extLst>
          </p:cNvPr>
          <p:cNvSpPr>
            <a:spLocks noGrp="1"/>
          </p:cNvSpPr>
          <p:nvPr>
            <p:ph type="title"/>
          </p:nvPr>
        </p:nvSpPr>
        <p:spPr/>
        <p:txBody>
          <a:bodyPr/>
          <a:lstStyle/>
          <a:p>
            <a:r>
              <a:rPr lang="en-US" dirty="0"/>
              <a:t>PRE-BUILT CMS SOLUTION</a:t>
            </a:r>
          </a:p>
        </p:txBody>
      </p:sp>
      <p:sp>
        <p:nvSpPr>
          <p:cNvPr id="3" name="Content Placeholder 2">
            <a:extLst>
              <a:ext uri="{FF2B5EF4-FFF2-40B4-BE49-F238E27FC236}">
                <a16:creationId xmlns:a16="http://schemas.microsoft.com/office/drawing/2014/main" id="{26E6AD8A-E726-4547-A265-240697535458}"/>
              </a:ext>
            </a:extLst>
          </p:cNvPr>
          <p:cNvSpPr>
            <a:spLocks noGrp="1"/>
          </p:cNvSpPr>
          <p:nvPr>
            <p:ph idx="1"/>
          </p:nvPr>
        </p:nvSpPr>
        <p:spPr/>
        <p:txBody>
          <a:bodyPr>
            <a:normAutofit fontScale="92500" lnSpcReduction="20000"/>
          </a:bodyPr>
          <a:lstStyle/>
          <a:p>
            <a:pPr algn="just" fontAlgn="base"/>
            <a:r>
              <a:rPr lang="en-US" sz="2400" b="1" dirty="0"/>
              <a:t>Cost-Effective:</a:t>
            </a:r>
            <a:r>
              <a:rPr lang="en-US" sz="2400" dirty="0"/>
              <a:t> Pre-built CMS solutions are significantly more affordable than custom development. Many platforms are even available as open-source software, requiring no licensing fees.</a:t>
            </a:r>
          </a:p>
          <a:p>
            <a:pPr algn="just" fontAlgn="base"/>
            <a:r>
              <a:rPr lang="en-US" sz="2400" b="1" dirty="0"/>
              <a:t>Rapid Setup:</a:t>
            </a:r>
            <a:r>
              <a:rPr lang="en-US" sz="2400" dirty="0"/>
              <a:t> With a vast options of pre-designed templates and plugins available, pre-built CMS platforms allow for quick website creation. This is a perfect solution for businesses needing a fast and functional online presence.</a:t>
            </a:r>
          </a:p>
          <a:p>
            <a:pPr algn="just" fontAlgn="base"/>
            <a:r>
              <a:rPr lang="en-US" sz="2400" b="1" dirty="0"/>
              <a:t>User-Friendly Design:</a:t>
            </a:r>
            <a:r>
              <a:rPr lang="en-US" sz="2400" dirty="0"/>
              <a:t> Pre-built CMS platforms are designed with ease of use in mind. Often, minimal technical knowledge is required to manage content and update the website. Many platforms offer intuitive interfaces and drag-and-drop functionality.</a:t>
            </a:r>
          </a:p>
          <a:p>
            <a:pPr algn="just" fontAlgn="base"/>
            <a:r>
              <a:rPr lang="en-US" sz="2400" b="1" dirty="0"/>
              <a:t>Large Community Support:</a:t>
            </a:r>
            <a:r>
              <a:rPr lang="en-US" sz="2400" dirty="0"/>
              <a:t> The popularity of pre-built CMS solutions translates to a wealth of available resources. Extensive online communities, tutorials, and forums provide ongoing support and troubleshooting assistance.</a:t>
            </a:r>
          </a:p>
          <a:p>
            <a:pPr algn="just"/>
            <a:endParaRPr lang="en-US" sz="2400" dirty="0"/>
          </a:p>
        </p:txBody>
      </p:sp>
      <p:sp>
        <p:nvSpPr>
          <p:cNvPr id="5" name="Footer Placeholder 3">
            <a:extLst>
              <a:ext uri="{FF2B5EF4-FFF2-40B4-BE49-F238E27FC236}">
                <a16:creationId xmlns:a16="http://schemas.microsoft.com/office/drawing/2014/main" id="{F932191A-3718-40EB-9E2B-A627648C7702}"/>
              </a:ext>
            </a:extLst>
          </p:cNvPr>
          <p:cNvSpPr>
            <a:spLocks noGrp="1"/>
          </p:cNvSpPr>
          <p:nvPr>
            <p:ph type="ftr" sz="quarter" idx="11"/>
          </p:nvPr>
        </p:nvSpPr>
        <p:spPr>
          <a:xfrm>
            <a:off x="1024128" y="6470704"/>
            <a:ext cx="9720263" cy="387296"/>
          </a:xfrm>
        </p:spPr>
        <p:txBody>
          <a:bodyPr/>
          <a:lstStyle/>
          <a:p>
            <a:pPr algn="l"/>
            <a:r>
              <a:rPr lang="en-US" dirty="0"/>
              <a:t>https://www.digital4design.com/custom-cms-vs-pre-built-cms-which-is-right-for-your-business/#:~:text=Rapid%20Setup%3A%20With%20a%20vast,ease%20of%20use%20in%20mind.</a:t>
            </a:r>
          </a:p>
        </p:txBody>
      </p:sp>
    </p:spTree>
    <p:extLst>
      <p:ext uri="{BB962C8B-B14F-4D97-AF65-F5344CB8AC3E}">
        <p14:creationId xmlns:p14="http://schemas.microsoft.com/office/powerpoint/2010/main" val="1329053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DA22-4450-4DE9-A8D3-0019F9933C68}"/>
              </a:ext>
            </a:extLst>
          </p:cNvPr>
          <p:cNvSpPr>
            <a:spLocks noGrp="1"/>
          </p:cNvSpPr>
          <p:nvPr>
            <p:ph type="title"/>
          </p:nvPr>
        </p:nvSpPr>
        <p:spPr/>
        <p:txBody>
          <a:bodyPr/>
          <a:lstStyle/>
          <a:p>
            <a:r>
              <a:rPr lang="en-US" dirty="0"/>
              <a:t>WHICH IS WHICH FOR YOU?</a:t>
            </a:r>
          </a:p>
        </p:txBody>
      </p:sp>
      <p:sp>
        <p:nvSpPr>
          <p:cNvPr id="3" name="Content Placeholder 2">
            <a:extLst>
              <a:ext uri="{FF2B5EF4-FFF2-40B4-BE49-F238E27FC236}">
                <a16:creationId xmlns:a16="http://schemas.microsoft.com/office/drawing/2014/main" id="{CA06D27F-A5E2-45BA-BE76-8305877BBFF5}"/>
              </a:ext>
            </a:extLst>
          </p:cNvPr>
          <p:cNvSpPr>
            <a:spLocks noGrp="1"/>
          </p:cNvSpPr>
          <p:nvPr>
            <p:ph idx="1"/>
          </p:nvPr>
        </p:nvSpPr>
        <p:spPr/>
        <p:txBody>
          <a:bodyPr>
            <a:normAutofit/>
          </a:bodyPr>
          <a:lstStyle/>
          <a:p>
            <a:pPr algn="just" fontAlgn="base"/>
            <a:r>
              <a:rPr lang="en-US" sz="2400" dirty="0"/>
              <a:t>For businesses with unique needs, complex functionalities, and a strong focus on brand identity, a custom CMS built by a CMS web development company is the ideal choice.</a:t>
            </a:r>
          </a:p>
          <a:p>
            <a:pPr algn="just" fontAlgn="base"/>
            <a:r>
              <a:rPr lang="en-US" sz="2400" dirty="0"/>
              <a:t>For businesses prioritizing cost-effectiveness, rapid website launch, and user-friendly content management, a pre-built CMS platform might be the perfect solution.</a:t>
            </a:r>
          </a:p>
          <a:p>
            <a:pPr algn="just"/>
            <a:endParaRPr lang="en-US" sz="2400" dirty="0"/>
          </a:p>
        </p:txBody>
      </p:sp>
      <p:sp>
        <p:nvSpPr>
          <p:cNvPr id="7" name="Footer Placeholder 3">
            <a:extLst>
              <a:ext uri="{FF2B5EF4-FFF2-40B4-BE49-F238E27FC236}">
                <a16:creationId xmlns:a16="http://schemas.microsoft.com/office/drawing/2014/main" id="{D3D00CE8-AE82-4E84-83C3-A44E05830B37}"/>
              </a:ext>
            </a:extLst>
          </p:cNvPr>
          <p:cNvSpPr>
            <a:spLocks noGrp="1"/>
          </p:cNvSpPr>
          <p:nvPr>
            <p:ph type="ftr" sz="quarter" idx="11"/>
          </p:nvPr>
        </p:nvSpPr>
        <p:spPr>
          <a:xfrm>
            <a:off x="1024128" y="6470704"/>
            <a:ext cx="9720263" cy="387296"/>
          </a:xfrm>
        </p:spPr>
        <p:txBody>
          <a:bodyPr/>
          <a:lstStyle/>
          <a:p>
            <a:pPr algn="l"/>
            <a:r>
              <a:rPr lang="en-US" dirty="0"/>
              <a:t>https://www.digital4design.com/custom-cms-vs-pre-built-cms-which-is-right-for-your-business/#:~:text=Rapid%20Setup%3A%20With%20a%20vast,ease%20of%20use%20in%20mind.</a:t>
            </a:r>
          </a:p>
        </p:txBody>
      </p:sp>
    </p:spTree>
    <p:extLst>
      <p:ext uri="{BB962C8B-B14F-4D97-AF65-F5344CB8AC3E}">
        <p14:creationId xmlns:p14="http://schemas.microsoft.com/office/powerpoint/2010/main" val="265647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E19A-1B83-448E-ABA6-E4F36CA06791}"/>
              </a:ext>
            </a:extLst>
          </p:cNvPr>
          <p:cNvSpPr>
            <a:spLocks noGrp="1"/>
          </p:cNvSpPr>
          <p:nvPr>
            <p:ph type="title"/>
          </p:nvPr>
        </p:nvSpPr>
        <p:spPr/>
        <p:txBody>
          <a:bodyPr/>
          <a:lstStyle/>
          <a:p>
            <a:r>
              <a:rPr lang="en-US" dirty="0"/>
              <a:t>WHICH IS WHICH FOR YOU?</a:t>
            </a:r>
          </a:p>
        </p:txBody>
      </p:sp>
      <p:sp>
        <p:nvSpPr>
          <p:cNvPr id="3" name="Content Placeholder 2">
            <a:extLst>
              <a:ext uri="{FF2B5EF4-FFF2-40B4-BE49-F238E27FC236}">
                <a16:creationId xmlns:a16="http://schemas.microsoft.com/office/drawing/2014/main" id="{69206903-45E4-4DBF-9B47-25E74462DEC3}"/>
              </a:ext>
            </a:extLst>
          </p:cNvPr>
          <p:cNvSpPr>
            <a:spLocks noGrp="1"/>
          </p:cNvSpPr>
          <p:nvPr>
            <p:ph idx="1"/>
          </p:nvPr>
        </p:nvSpPr>
        <p:spPr/>
        <p:txBody>
          <a:bodyPr/>
          <a:lstStyle/>
          <a:p>
            <a:pPr algn="just"/>
            <a:r>
              <a:rPr lang="en-US" dirty="0"/>
              <a:t>Ultimately, the best CMS for your business depends on your specific requirements and budget. By carefully considering your current and future needs, you can make an informed decision that helps expand your online presence more strongly and fuels your business growth.</a:t>
            </a:r>
          </a:p>
        </p:txBody>
      </p:sp>
      <p:sp>
        <p:nvSpPr>
          <p:cNvPr id="5" name="Footer Placeholder 3">
            <a:extLst>
              <a:ext uri="{FF2B5EF4-FFF2-40B4-BE49-F238E27FC236}">
                <a16:creationId xmlns:a16="http://schemas.microsoft.com/office/drawing/2014/main" id="{FF081763-C814-4DAC-8B1F-8A7B3784FB67}"/>
              </a:ext>
            </a:extLst>
          </p:cNvPr>
          <p:cNvSpPr>
            <a:spLocks noGrp="1"/>
          </p:cNvSpPr>
          <p:nvPr>
            <p:ph type="ftr" sz="quarter" idx="11"/>
          </p:nvPr>
        </p:nvSpPr>
        <p:spPr>
          <a:xfrm>
            <a:off x="1024128" y="6470704"/>
            <a:ext cx="9720263" cy="387296"/>
          </a:xfrm>
        </p:spPr>
        <p:txBody>
          <a:bodyPr/>
          <a:lstStyle/>
          <a:p>
            <a:pPr algn="l"/>
            <a:r>
              <a:rPr lang="en-US" dirty="0"/>
              <a:t>https://www.digital4design.com/custom-cms-vs-pre-built-cms-which-is-right-for-your-business/#:~:text=Rapid%20Setup%3A%20With%20a%20vast,ease%20of%20use%20in%20mind.</a:t>
            </a:r>
          </a:p>
        </p:txBody>
      </p:sp>
    </p:spTree>
    <p:extLst>
      <p:ext uri="{BB962C8B-B14F-4D97-AF65-F5344CB8AC3E}">
        <p14:creationId xmlns:p14="http://schemas.microsoft.com/office/powerpoint/2010/main" val="2010358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E3E64-E053-4600-A016-3BE6BFC64659}"/>
              </a:ext>
            </a:extLst>
          </p:cNvPr>
          <p:cNvSpPr>
            <a:spLocks noGrp="1"/>
          </p:cNvSpPr>
          <p:nvPr>
            <p:ph type="title"/>
          </p:nvPr>
        </p:nvSpPr>
        <p:spPr/>
        <p:txBody>
          <a:bodyPr/>
          <a:lstStyle/>
          <a:p>
            <a:r>
              <a:rPr lang="en-US" dirty="0"/>
              <a:t>Download </a:t>
            </a:r>
            <a:r>
              <a:rPr lang="en-US" dirty="0" err="1"/>
              <a:t>wordpress</a:t>
            </a:r>
            <a:endParaRPr lang="en-US" dirty="0"/>
          </a:p>
        </p:txBody>
      </p:sp>
      <p:sp>
        <p:nvSpPr>
          <p:cNvPr id="3" name="Content Placeholder 2">
            <a:extLst>
              <a:ext uri="{FF2B5EF4-FFF2-40B4-BE49-F238E27FC236}">
                <a16:creationId xmlns:a16="http://schemas.microsoft.com/office/drawing/2014/main" id="{FAA6B882-3A99-437C-B256-29961EB5A5A8}"/>
              </a:ext>
            </a:extLst>
          </p:cNvPr>
          <p:cNvSpPr>
            <a:spLocks noGrp="1"/>
          </p:cNvSpPr>
          <p:nvPr>
            <p:ph idx="1"/>
          </p:nvPr>
        </p:nvSpPr>
        <p:spPr/>
        <p:txBody>
          <a:bodyPr/>
          <a:lstStyle/>
          <a:p>
            <a:r>
              <a:rPr lang="en-US" dirty="0"/>
              <a:t>http://wordpress.com</a:t>
            </a:r>
          </a:p>
        </p:txBody>
      </p:sp>
      <p:sp>
        <p:nvSpPr>
          <p:cNvPr id="4" name="Footer Placeholder 3">
            <a:extLst>
              <a:ext uri="{FF2B5EF4-FFF2-40B4-BE49-F238E27FC236}">
                <a16:creationId xmlns:a16="http://schemas.microsoft.com/office/drawing/2014/main" id="{3E372BB8-225C-45E8-85F4-53F07A95EB7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50736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44488-DD2D-479F-81E3-600A8CEEC00E}"/>
              </a:ext>
            </a:extLst>
          </p:cNvPr>
          <p:cNvSpPr>
            <a:spLocks noGrp="1"/>
          </p:cNvSpPr>
          <p:nvPr>
            <p:ph type="title"/>
          </p:nvPr>
        </p:nvSpPr>
        <p:spPr/>
        <p:txBody>
          <a:bodyPr/>
          <a:lstStyle/>
          <a:p>
            <a:r>
              <a:rPr lang="en-US" dirty="0"/>
              <a:t>INSTALLATION OF PRE-BUILT CMS - WORDPRESS</a:t>
            </a:r>
          </a:p>
        </p:txBody>
      </p:sp>
      <p:sp>
        <p:nvSpPr>
          <p:cNvPr id="3" name="Content Placeholder 2">
            <a:extLst>
              <a:ext uri="{FF2B5EF4-FFF2-40B4-BE49-F238E27FC236}">
                <a16:creationId xmlns:a16="http://schemas.microsoft.com/office/drawing/2014/main" id="{59E39D2E-A826-4C17-A6E3-008777E6DF44}"/>
              </a:ext>
            </a:extLst>
          </p:cNvPr>
          <p:cNvSpPr>
            <a:spLocks noGrp="1"/>
          </p:cNvSpPr>
          <p:nvPr>
            <p:ph idx="1"/>
          </p:nvPr>
        </p:nvSpPr>
        <p:spPr/>
        <p:txBody>
          <a:bodyPr>
            <a:normAutofit/>
          </a:bodyPr>
          <a:lstStyle/>
          <a:p>
            <a:r>
              <a:rPr lang="en-US" u="sng" dirty="0">
                <a:hlinkClick r:id="rId2"/>
              </a:rPr>
              <a:t>Step 1 - Locate your database login details</a:t>
            </a:r>
            <a:endParaRPr lang="en-US" dirty="0"/>
          </a:p>
          <a:p>
            <a:r>
              <a:rPr lang="en-US" u="sng" dirty="0">
                <a:hlinkClick r:id="rId3"/>
              </a:rPr>
              <a:t>Step 2 - Download WordPress</a:t>
            </a:r>
            <a:endParaRPr lang="en-US" dirty="0"/>
          </a:p>
          <a:p>
            <a:r>
              <a:rPr lang="en-US" u="sng" dirty="0">
                <a:hlinkClick r:id="rId4"/>
              </a:rPr>
              <a:t>Step 3 - Extract the WordPress files</a:t>
            </a:r>
            <a:endParaRPr lang="en-US" dirty="0"/>
          </a:p>
          <a:p>
            <a:r>
              <a:rPr lang="en-US" u="sng" dirty="0">
                <a:hlinkClick r:id="rId5"/>
              </a:rPr>
              <a:t>Step 4 - Connect to your web space via SFTP</a:t>
            </a:r>
            <a:endParaRPr lang="en-US" dirty="0"/>
          </a:p>
          <a:p>
            <a:r>
              <a:rPr lang="en-US" u="sng" dirty="0">
                <a:hlinkClick r:id="rId6"/>
              </a:rPr>
              <a:t>Step 5 - Upload the WordPress files and folders</a:t>
            </a:r>
            <a:endParaRPr lang="en-US" dirty="0"/>
          </a:p>
          <a:p>
            <a:r>
              <a:rPr lang="en-US" u="sng" dirty="0">
                <a:hlinkClick r:id="rId7"/>
              </a:rPr>
              <a:t>Step 6 - Open (sub-)domain in your browser and select your language</a:t>
            </a:r>
            <a:endParaRPr lang="en-US" dirty="0"/>
          </a:p>
          <a:p>
            <a:r>
              <a:rPr lang="en-US" u="sng" dirty="0">
                <a:hlinkClick r:id="rId8"/>
              </a:rPr>
              <a:t>Step 7 - Start the installation</a:t>
            </a:r>
            <a:endParaRPr lang="en-US" dirty="0"/>
          </a:p>
          <a:p>
            <a:r>
              <a:rPr lang="en-US" u="sng" dirty="0">
                <a:hlinkClick r:id="rId9"/>
              </a:rPr>
              <a:t>Step 8 - Enter your database details</a:t>
            </a:r>
            <a:endParaRPr lang="en-US" dirty="0"/>
          </a:p>
          <a:p>
            <a:endParaRPr lang="en-US" dirty="0"/>
          </a:p>
        </p:txBody>
      </p:sp>
      <p:sp>
        <p:nvSpPr>
          <p:cNvPr id="4" name="Footer Placeholder 3">
            <a:extLst>
              <a:ext uri="{FF2B5EF4-FFF2-40B4-BE49-F238E27FC236}">
                <a16:creationId xmlns:a16="http://schemas.microsoft.com/office/drawing/2014/main" id="{2B365A86-A0E6-47BF-9088-48927FE4999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506656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940F-959F-44CF-A572-E40CD0A2EBB7}"/>
              </a:ext>
            </a:extLst>
          </p:cNvPr>
          <p:cNvSpPr>
            <a:spLocks noGrp="1"/>
          </p:cNvSpPr>
          <p:nvPr>
            <p:ph type="title"/>
          </p:nvPr>
        </p:nvSpPr>
        <p:spPr/>
        <p:txBody>
          <a:bodyPr/>
          <a:lstStyle/>
          <a:p>
            <a:r>
              <a:rPr lang="en-US" dirty="0"/>
              <a:t>INSTALLATION OF PRE-BUILT CMS - WORDPRESS</a:t>
            </a:r>
          </a:p>
        </p:txBody>
      </p:sp>
      <p:sp>
        <p:nvSpPr>
          <p:cNvPr id="3" name="Content Placeholder 2">
            <a:extLst>
              <a:ext uri="{FF2B5EF4-FFF2-40B4-BE49-F238E27FC236}">
                <a16:creationId xmlns:a16="http://schemas.microsoft.com/office/drawing/2014/main" id="{A8686DC0-6999-46A9-A8F3-2CEB59BE8DAE}"/>
              </a:ext>
            </a:extLst>
          </p:cNvPr>
          <p:cNvSpPr>
            <a:spLocks noGrp="1"/>
          </p:cNvSpPr>
          <p:nvPr>
            <p:ph idx="1"/>
          </p:nvPr>
        </p:nvSpPr>
        <p:spPr/>
        <p:txBody>
          <a:bodyPr/>
          <a:lstStyle/>
          <a:p>
            <a:r>
              <a:rPr lang="en-US" u="sng" dirty="0">
                <a:hlinkClick r:id="rId2"/>
              </a:rPr>
              <a:t>Step 9 - Continue with the installation</a:t>
            </a:r>
            <a:endParaRPr lang="en-US" dirty="0"/>
          </a:p>
          <a:p>
            <a:r>
              <a:rPr lang="en-US" u="sng" dirty="0">
                <a:hlinkClick r:id="rId3"/>
              </a:rPr>
              <a:t>Step 10 - Enter your login details</a:t>
            </a:r>
            <a:endParaRPr lang="en-US" dirty="0"/>
          </a:p>
          <a:p>
            <a:r>
              <a:rPr lang="en-US" u="sng" dirty="0">
                <a:hlinkClick r:id="rId4"/>
              </a:rPr>
              <a:t>Step 11 - WordPress is installed</a:t>
            </a:r>
            <a:endParaRPr lang="en-US" dirty="0"/>
          </a:p>
          <a:p>
            <a:r>
              <a:rPr lang="en-US" u="sng" dirty="0">
                <a:hlinkClick r:id="rId5"/>
              </a:rPr>
              <a:t>Step 12 - Log in for the first time</a:t>
            </a:r>
            <a:endParaRPr lang="en-US" dirty="0"/>
          </a:p>
          <a:p>
            <a:r>
              <a:rPr lang="en-US" u="sng" dirty="0">
                <a:hlinkClick r:id="rId6"/>
              </a:rPr>
              <a:t>Tips to help you get started</a:t>
            </a:r>
            <a:endParaRPr lang="en-US" dirty="0"/>
          </a:p>
          <a:p>
            <a:endParaRPr lang="en-US" dirty="0"/>
          </a:p>
        </p:txBody>
      </p:sp>
      <p:sp>
        <p:nvSpPr>
          <p:cNvPr id="4" name="Footer Placeholder 3">
            <a:extLst>
              <a:ext uri="{FF2B5EF4-FFF2-40B4-BE49-F238E27FC236}">
                <a16:creationId xmlns:a16="http://schemas.microsoft.com/office/drawing/2014/main" id="{CE618E3E-21BB-477E-A589-1C12EFC7CD4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431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3086A-F1C7-496B-AED3-95253AEDA7B5}"/>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A9853824-C876-4A0B-BE45-AE43AAF5AC7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C6238AD-9BA9-42A3-A5BB-447C30FA8A6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66531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15B5-8E49-4525-AF85-3F2A3600064F}"/>
              </a:ext>
            </a:extLst>
          </p:cNvPr>
          <p:cNvSpPr>
            <a:spLocks noGrp="1"/>
          </p:cNvSpPr>
          <p:nvPr>
            <p:ph type="title"/>
          </p:nvPr>
        </p:nvSpPr>
        <p:spPr/>
        <p:txBody>
          <a:bodyPr/>
          <a:lstStyle/>
          <a:p>
            <a:r>
              <a:rPr lang="en-US" dirty="0"/>
              <a:t>END</a:t>
            </a:r>
          </a:p>
        </p:txBody>
      </p:sp>
      <p:sp>
        <p:nvSpPr>
          <p:cNvPr id="3" name="Content Placeholder 2">
            <a:extLst>
              <a:ext uri="{FF2B5EF4-FFF2-40B4-BE49-F238E27FC236}">
                <a16:creationId xmlns:a16="http://schemas.microsoft.com/office/drawing/2014/main" id="{85C96D12-5489-4C2C-A0D3-9350BEC9C52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7840B3D-DDBD-4AC5-AE9B-AF31E14DE12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75259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199</TotalTime>
  <Words>788</Words>
  <Application>Microsoft Office PowerPoint</Application>
  <PresentationFormat>Widescreen</PresentationFormat>
  <Paragraphs>46</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Tw Cen MT</vt:lpstr>
      <vt:lpstr>Tw Cen MT Condensed</vt:lpstr>
      <vt:lpstr>Wingdings 3</vt:lpstr>
      <vt:lpstr>Integral</vt:lpstr>
      <vt:lpstr>ITP219</vt:lpstr>
      <vt:lpstr>PREBUILT OR CUSTOM CMS?</vt:lpstr>
      <vt:lpstr>ADVANTAGES OF CUSTOM CMS</vt:lpstr>
      <vt:lpstr>PRE-BUILT CMS SOLUTION</vt:lpstr>
      <vt:lpstr>WHICH IS WHICH FOR YOU?</vt:lpstr>
      <vt:lpstr>WHICH IS WHICH FOR YOU?</vt:lpstr>
      <vt:lpstr>Download wordpress</vt:lpstr>
      <vt:lpstr>INSTALLATION OF PRE-BUILT CMS - WORDPRESS</vt:lpstr>
      <vt:lpstr>INSTALLATION OF PRE-BUILT CMS - WORDPRESS</vt:lpstr>
      <vt:lpstr>EXERCISE</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ITP219</dc:title>
  <dc:creator>Sunny Lopez</dc:creator>
  <cp:lastModifiedBy>Sunny Lopez</cp:lastModifiedBy>
  <cp:revision>96</cp:revision>
  <dcterms:created xsi:type="dcterms:W3CDTF">2024-08-11T23:47:52Z</dcterms:created>
  <dcterms:modified xsi:type="dcterms:W3CDTF">2024-09-23T05:57:39Z</dcterms:modified>
</cp:coreProperties>
</file>